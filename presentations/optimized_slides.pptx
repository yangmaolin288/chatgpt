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引语沿用原稿。正式学术汇报前，建议补充作者、出处及页码。</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中国民族关系史 · 专题研读</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01 / 32</a:t>
            </a:r>
          </a:p>
        </p:txBody>
      </p:sp>
      <p:sp>
        <p:nvSpPr>
          <p:cNvPr id="8" name="Rectangle 7"/>
          <p:cNvSpPr/>
          <p:nvPr/>
        </p:nvSpPr>
        <p:spPr>
          <a:xfrm>
            <a:off x="640080" y="1508760"/>
            <a:ext cx="91440" cy="4160520"/>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83080"/>
            <a:ext cx="10058400" cy="914400"/>
          </a:xfrm>
          <a:prstGeom prst="rect">
            <a:avLst/>
          </a:prstGeom>
          <a:noFill/>
        </p:spPr>
        <p:txBody>
          <a:bodyPr wrap="square" lIns="13716" rIns="13716" tIns="13716" bIns="13716">
            <a:spAutoFit/>
          </a:bodyPr>
          <a:lstStyle/>
          <a:p>
            <a:pPr>
              <a:lnSpc>
                <a:spcPct val="122000"/>
              </a:lnSpc>
              <a:spcAft>
                <a:spcPts val="800"/>
              </a:spcAft>
              <a:defRPr sz="3400" b="0">
                <a:solidFill>
                  <a:srgbClr val="242A30"/>
                </a:solidFill>
                <a:latin typeface="Noto Sans CJK SC"/>
              </a:defRPr>
            </a:pPr>
            <a:r>
              <a:t>近现代中国的</a:t>
            </a:r>
          </a:p>
        </p:txBody>
      </p:sp>
      <p:sp>
        <p:nvSpPr>
          <p:cNvPr id="10" name="TextBox 9"/>
          <p:cNvSpPr txBox="1"/>
          <p:nvPr/>
        </p:nvSpPr>
        <p:spPr>
          <a:xfrm>
            <a:off x="960120" y="2779776"/>
            <a:ext cx="10789920" cy="1051560"/>
          </a:xfrm>
          <a:prstGeom prst="rect">
            <a:avLst/>
          </a:prstGeom>
          <a:noFill/>
        </p:spPr>
        <p:txBody>
          <a:bodyPr wrap="square" lIns="13716" rIns="13716" tIns="13716" bIns="13716">
            <a:spAutoFit/>
          </a:bodyPr>
          <a:lstStyle/>
          <a:p>
            <a:pPr>
              <a:lnSpc>
                <a:spcPct val="122000"/>
              </a:lnSpc>
              <a:spcAft>
                <a:spcPts val="800"/>
              </a:spcAft>
              <a:defRPr sz="4400" b="1">
                <a:solidFill>
                  <a:srgbClr val="8F2438"/>
                </a:solidFill>
                <a:latin typeface="Noto Sans CJK SC"/>
              </a:defRPr>
            </a:pPr>
            <a:r>
              <a:t>边疆治理与民族关系</a:t>
            </a:r>
          </a:p>
        </p:txBody>
      </p:sp>
      <p:sp>
        <p:nvSpPr>
          <p:cNvPr id="11" name="TextBox 10"/>
          <p:cNvSpPr txBox="1"/>
          <p:nvPr/>
        </p:nvSpPr>
        <p:spPr>
          <a:xfrm>
            <a:off x="1005840" y="4187952"/>
            <a:ext cx="10058400" cy="594360"/>
          </a:xfrm>
          <a:prstGeom prst="rect">
            <a:avLst/>
          </a:prstGeom>
          <a:noFill/>
        </p:spPr>
        <p:txBody>
          <a:bodyPr wrap="square" lIns="13716" rIns="13716" tIns="13716" bIns="13716">
            <a:spAutoFit/>
          </a:bodyPr>
          <a:lstStyle/>
          <a:p>
            <a:pPr>
              <a:lnSpc>
                <a:spcPct val="122000"/>
              </a:lnSpc>
              <a:spcAft>
                <a:spcPts val="800"/>
              </a:spcAft>
              <a:defRPr sz="2300" b="0">
                <a:solidFill>
                  <a:srgbClr val="687078"/>
                </a:solidFill>
                <a:latin typeface="Noto Sans CJK SC"/>
              </a:defRPr>
            </a:pPr>
            <a:r>
              <a:t>从边疆形势、边政研究到民族政策实践</a:t>
            </a:r>
          </a:p>
        </p:txBody>
      </p:sp>
      <p:sp>
        <p:nvSpPr>
          <p:cNvPr id="12" name="TextBox 11"/>
          <p:cNvSpPr txBox="1"/>
          <p:nvPr/>
        </p:nvSpPr>
        <p:spPr>
          <a:xfrm>
            <a:off x="1005840" y="5230368"/>
            <a:ext cx="7315200" cy="457200"/>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汇报人  连羚毓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研读导论</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国家整合如何落实到边疆社会？</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02 / 32</a:t>
            </a:r>
          </a:p>
        </p:txBody>
      </p:sp>
      <p:sp>
        <p:nvSpPr>
          <p:cNvPr id="8" name="Rectangle 7"/>
          <p:cNvSpPr/>
          <p:nvPr/>
        </p:nvSpPr>
        <p:spPr>
          <a:xfrm>
            <a:off x="640080" y="2057400"/>
            <a:ext cx="3502152"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057400"/>
            <a:ext cx="41148" cy="3246120"/>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221992"/>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外部压力</a:t>
            </a:r>
          </a:p>
        </p:txBody>
      </p:sp>
      <p:sp>
        <p:nvSpPr>
          <p:cNvPr id="11" name="TextBox 10"/>
          <p:cNvSpPr txBox="1"/>
          <p:nvPr/>
        </p:nvSpPr>
        <p:spPr>
          <a:xfrm>
            <a:off x="841247" y="2953512"/>
            <a:ext cx="3099816" cy="2240279"/>
          </a:xfrm>
          <a:prstGeom prst="rect">
            <a:avLst/>
          </a:prstGeom>
          <a:noFill/>
        </p:spPr>
        <p:txBody>
          <a:bodyPr wrap="square" lIns="13716" rIns="13716" tIns="13716" bIns="13716">
            <a:spAutoFit/>
          </a:bodyPr>
          <a:lstStyle/>
          <a:p>
            <a:pPr>
              <a:lnSpc>
                <a:spcPct val="122000"/>
              </a:lnSpc>
              <a:spcAft>
                <a:spcPts val="800"/>
              </a:spcAft>
              <a:defRPr sz="2300" b="0">
                <a:solidFill>
                  <a:srgbClr val="242A30"/>
                </a:solidFill>
                <a:latin typeface="Noto Sans CJK SC"/>
              </a:defRPr>
            </a:pPr>
            <a:r>
              <a:t>国际局势与侵略扩张</a:t>
            </a:r>
          </a:p>
        </p:txBody>
      </p:sp>
      <p:sp>
        <p:nvSpPr>
          <p:cNvPr id="12" name="Rectangle 11"/>
          <p:cNvSpPr/>
          <p:nvPr/>
        </p:nvSpPr>
        <p:spPr>
          <a:xfrm>
            <a:off x="4343400" y="2057400"/>
            <a:ext cx="3502152"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2057400"/>
            <a:ext cx="41148" cy="3246120"/>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2221992"/>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地方权力</a:t>
            </a:r>
          </a:p>
        </p:txBody>
      </p:sp>
      <p:sp>
        <p:nvSpPr>
          <p:cNvPr id="15" name="TextBox 14"/>
          <p:cNvSpPr txBox="1"/>
          <p:nvPr/>
        </p:nvSpPr>
        <p:spPr>
          <a:xfrm>
            <a:off x="4544568" y="2953512"/>
            <a:ext cx="3099816" cy="2240279"/>
          </a:xfrm>
          <a:prstGeom prst="rect">
            <a:avLst/>
          </a:prstGeom>
          <a:noFill/>
        </p:spPr>
        <p:txBody>
          <a:bodyPr wrap="square" lIns="13716" rIns="13716" tIns="13716" bIns="13716">
            <a:spAutoFit/>
          </a:bodyPr>
          <a:lstStyle/>
          <a:p>
            <a:pPr>
              <a:lnSpc>
                <a:spcPct val="122000"/>
              </a:lnSpc>
              <a:spcAft>
                <a:spcPts val="800"/>
              </a:spcAft>
              <a:defRPr sz="2300" b="0">
                <a:solidFill>
                  <a:srgbClr val="242A30"/>
                </a:solidFill>
                <a:latin typeface="Noto Sans CJK SC"/>
              </a:defRPr>
            </a:pPr>
            <a:r>
              <a:t>中央与地方的政治关系</a:t>
            </a:r>
          </a:p>
        </p:txBody>
      </p:sp>
      <p:sp>
        <p:nvSpPr>
          <p:cNvPr id="16" name="Rectangle 15"/>
          <p:cNvSpPr/>
          <p:nvPr/>
        </p:nvSpPr>
        <p:spPr>
          <a:xfrm>
            <a:off x="8046719" y="2057400"/>
            <a:ext cx="3502152"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2057400"/>
            <a:ext cx="41148" cy="3246120"/>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221992"/>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民众参与</a:t>
            </a:r>
          </a:p>
        </p:txBody>
      </p:sp>
      <p:sp>
        <p:nvSpPr>
          <p:cNvPr id="19" name="TextBox 18"/>
          <p:cNvSpPr txBox="1"/>
          <p:nvPr/>
        </p:nvSpPr>
        <p:spPr>
          <a:xfrm>
            <a:off x="8247888" y="2953512"/>
            <a:ext cx="3099816" cy="2240279"/>
          </a:xfrm>
          <a:prstGeom prst="rect">
            <a:avLst/>
          </a:prstGeom>
          <a:noFill/>
        </p:spPr>
        <p:txBody>
          <a:bodyPr wrap="square" lIns="13716" rIns="13716" tIns="13716" bIns="13716">
            <a:spAutoFit/>
          </a:bodyPr>
          <a:lstStyle/>
          <a:p>
            <a:pPr>
              <a:lnSpc>
                <a:spcPct val="122000"/>
              </a:lnSpc>
              <a:spcAft>
                <a:spcPts val="800"/>
              </a:spcAft>
              <a:defRPr sz="2300" b="0">
                <a:solidFill>
                  <a:srgbClr val="242A30"/>
                </a:solidFill>
                <a:latin typeface="Noto Sans CJK SC"/>
              </a:defRPr>
            </a:pPr>
            <a:r>
              <a:t>地方利益与社会行动</a:t>
            </a:r>
          </a:p>
        </p:txBody>
      </p:sp>
      <p:sp>
        <p:nvSpPr>
          <p:cNvPr id="20" name="Rectangle 19"/>
          <p:cNvSpPr/>
          <p:nvPr/>
        </p:nvSpPr>
        <p:spPr>
          <a:xfrm>
            <a:off x="640080" y="5806440"/>
            <a:ext cx="10908792" cy="393192"/>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856731"/>
            <a:ext cx="10561320" cy="301752"/>
          </a:xfrm>
          <a:prstGeom prst="rect">
            <a:avLst/>
          </a:prstGeom>
          <a:noFill/>
        </p:spPr>
        <p:txBody>
          <a:bodyPr wrap="square" lIns="13716" rIns="13716" tIns="13716" bIns="13716">
            <a:spAutoFit/>
          </a:bodyPr>
          <a:lstStyle/>
          <a:p>
            <a:pPr>
              <a:lnSpc>
                <a:spcPct val="122000"/>
              </a:lnSpc>
              <a:spcAft>
                <a:spcPts val="800"/>
              </a:spcAft>
              <a:defRPr sz="1400" b="0">
                <a:solidFill>
                  <a:srgbClr val="8F2438"/>
                </a:solidFill>
                <a:latin typeface="Noto Sans CJK SC"/>
              </a:defRPr>
            </a:pPr>
            <a:r>
              <a:t>观察视角：将外部压力、地方权力与民众参与放在同一历史过程中考察。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研读导论</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目录｜四个相互联系的研读主题</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03 / 32</a:t>
            </a:r>
          </a:p>
        </p:txBody>
      </p:sp>
      <p:sp>
        <p:nvSpPr>
          <p:cNvPr id="8" name="Rectangle 7"/>
          <p:cNvSpPr/>
          <p:nvPr/>
        </p:nvSpPr>
        <p:spPr>
          <a:xfrm>
            <a:off x="640080" y="1920240"/>
            <a:ext cx="5349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176272"/>
            <a:ext cx="777240" cy="62179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01</a:t>
            </a:r>
          </a:p>
        </p:txBody>
      </p:sp>
      <p:sp>
        <p:nvSpPr>
          <p:cNvPr id="10" name="TextBox 9"/>
          <p:cNvSpPr txBox="1"/>
          <p:nvPr/>
        </p:nvSpPr>
        <p:spPr>
          <a:xfrm>
            <a:off x="1828800" y="2176272"/>
            <a:ext cx="3931920" cy="521207"/>
          </a:xfrm>
          <a:prstGeom prst="rect">
            <a:avLst/>
          </a:prstGeom>
          <a:noFill/>
        </p:spPr>
        <p:txBody>
          <a:bodyPr wrap="square" lIns="13716" rIns="13716" tIns="13716" bIns="13716">
            <a:spAutoFit/>
          </a:bodyPr>
          <a:lstStyle/>
          <a:p>
            <a:pPr>
              <a:lnSpc>
                <a:spcPct val="122000"/>
              </a:lnSpc>
              <a:spcAft>
                <a:spcPts val="800"/>
              </a:spcAft>
              <a:defRPr sz="2400" b="1">
                <a:solidFill>
                  <a:srgbClr val="242A30"/>
                </a:solidFill>
                <a:latin typeface="Noto Sans CJK SC"/>
              </a:defRPr>
            </a:pPr>
            <a:r>
              <a:t>边疆形势</a:t>
            </a:r>
          </a:p>
        </p:txBody>
      </p:sp>
      <p:sp>
        <p:nvSpPr>
          <p:cNvPr id="11" name="TextBox 10"/>
          <p:cNvSpPr txBox="1"/>
          <p:nvPr/>
        </p:nvSpPr>
        <p:spPr>
          <a:xfrm>
            <a:off x="1828800" y="2880360"/>
            <a:ext cx="3931920" cy="502920"/>
          </a:xfrm>
          <a:prstGeom prst="rect">
            <a:avLst/>
          </a:prstGeom>
          <a:noFill/>
        </p:spPr>
        <p:txBody>
          <a:bodyPr wrap="square" lIns="13716" rIns="13716" tIns="13716" bIns="13716">
            <a:spAutoFit/>
          </a:bodyPr>
          <a:lstStyle/>
          <a:p>
            <a:pPr>
              <a:lnSpc>
                <a:spcPct val="122000"/>
              </a:lnSpc>
              <a:spcAft>
                <a:spcPts val="800"/>
              </a:spcAft>
              <a:defRPr sz="1900" b="0">
                <a:solidFill>
                  <a:srgbClr val="687078"/>
                </a:solidFill>
                <a:latin typeface="Noto Sans CJK SC"/>
              </a:defRPr>
            </a:pPr>
            <a:r>
              <a:t>不同区域的压力与回应</a:t>
            </a:r>
          </a:p>
        </p:txBody>
      </p:sp>
      <p:sp>
        <p:nvSpPr>
          <p:cNvPr id="12" name="Rectangle 11"/>
          <p:cNvSpPr/>
          <p:nvPr/>
        </p:nvSpPr>
        <p:spPr>
          <a:xfrm>
            <a:off x="6199632" y="1920240"/>
            <a:ext cx="5349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2176272"/>
            <a:ext cx="777240" cy="62179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02</a:t>
            </a:r>
          </a:p>
        </p:txBody>
      </p:sp>
      <p:sp>
        <p:nvSpPr>
          <p:cNvPr id="14" name="TextBox 13"/>
          <p:cNvSpPr txBox="1"/>
          <p:nvPr/>
        </p:nvSpPr>
        <p:spPr>
          <a:xfrm>
            <a:off x="7388352" y="2176272"/>
            <a:ext cx="3931920" cy="521207"/>
          </a:xfrm>
          <a:prstGeom prst="rect">
            <a:avLst/>
          </a:prstGeom>
          <a:noFill/>
        </p:spPr>
        <p:txBody>
          <a:bodyPr wrap="square" lIns="13716" rIns="13716" tIns="13716" bIns="13716">
            <a:spAutoFit/>
          </a:bodyPr>
          <a:lstStyle/>
          <a:p>
            <a:pPr>
              <a:lnSpc>
                <a:spcPct val="122000"/>
              </a:lnSpc>
              <a:spcAft>
                <a:spcPts val="800"/>
              </a:spcAft>
              <a:defRPr sz="2400" b="1">
                <a:solidFill>
                  <a:srgbClr val="242A30"/>
                </a:solidFill>
                <a:latin typeface="Noto Sans CJK SC"/>
              </a:defRPr>
            </a:pPr>
            <a:r>
              <a:t>边政研究</a:t>
            </a:r>
          </a:p>
        </p:txBody>
      </p:sp>
      <p:sp>
        <p:nvSpPr>
          <p:cNvPr id="15" name="TextBox 14"/>
          <p:cNvSpPr txBox="1"/>
          <p:nvPr/>
        </p:nvSpPr>
        <p:spPr>
          <a:xfrm>
            <a:off x="7388352" y="2880360"/>
            <a:ext cx="3931920" cy="502920"/>
          </a:xfrm>
          <a:prstGeom prst="rect">
            <a:avLst/>
          </a:prstGeom>
          <a:noFill/>
        </p:spPr>
        <p:txBody>
          <a:bodyPr wrap="square" lIns="13716" rIns="13716" tIns="13716" bIns="13716">
            <a:spAutoFit/>
          </a:bodyPr>
          <a:lstStyle/>
          <a:p>
            <a:pPr>
              <a:lnSpc>
                <a:spcPct val="122000"/>
              </a:lnSpc>
              <a:spcAft>
                <a:spcPts val="800"/>
              </a:spcAft>
              <a:defRPr sz="1900" b="0">
                <a:solidFill>
                  <a:srgbClr val="687078"/>
                </a:solidFill>
                <a:latin typeface="Noto Sans CJK SC"/>
              </a:defRPr>
            </a:pPr>
            <a:r>
              <a:t>国家如何认识边疆</a:t>
            </a:r>
          </a:p>
        </p:txBody>
      </p:sp>
      <p:sp>
        <p:nvSpPr>
          <p:cNvPr id="16" name="Rectangle 15"/>
          <p:cNvSpPr/>
          <p:nvPr/>
        </p:nvSpPr>
        <p:spPr>
          <a:xfrm>
            <a:off x="640080" y="3950208"/>
            <a:ext cx="5349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4206240"/>
            <a:ext cx="777240" cy="62179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03</a:t>
            </a:r>
          </a:p>
        </p:txBody>
      </p:sp>
      <p:sp>
        <p:nvSpPr>
          <p:cNvPr id="18" name="TextBox 17"/>
          <p:cNvSpPr txBox="1"/>
          <p:nvPr/>
        </p:nvSpPr>
        <p:spPr>
          <a:xfrm>
            <a:off x="1828800" y="4206240"/>
            <a:ext cx="3931920" cy="521207"/>
          </a:xfrm>
          <a:prstGeom prst="rect">
            <a:avLst/>
          </a:prstGeom>
          <a:noFill/>
        </p:spPr>
        <p:txBody>
          <a:bodyPr wrap="square" lIns="13716" rIns="13716" tIns="13716" bIns="13716">
            <a:spAutoFit/>
          </a:bodyPr>
          <a:lstStyle/>
          <a:p>
            <a:pPr>
              <a:lnSpc>
                <a:spcPct val="122000"/>
              </a:lnSpc>
              <a:spcAft>
                <a:spcPts val="800"/>
              </a:spcAft>
              <a:defRPr sz="2400" b="1">
                <a:solidFill>
                  <a:srgbClr val="242A30"/>
                </a:solidFill>
                <a:latin typeface="Noto Sans CJK SC"/>
              </a:defRPr>
            </a:pPr>
            <a:r>
              <a:t>民族政策与实践</a:t>
            </a:r>
          </a:p>
        </p:txBody>
      </p:sp>
      <p:sp>
        <p:nvSpPr>
          <p:cNvPr id="19" name="TextBox 18"/>
          <p:cNvSpPr txBox="1"/>
          <p:nvPr/>
        </p:nvSpPr>
        <p:spPr>
          <a:xfrm>
            <a:off x="1828800" y="4910328"/>
            <a:ext cx="3931920" cy="502920"/>
          </a:xfrm>
          <a:prstGeom prst="rect">
            <a:avLst/>
          </a:prstGeom>
          <a:noFill/>
        </p:spPr>
        <p:txBody>
          <a:bodyPr wrap="square" lIns="13716" rIns="13716" tIns="13716" bIns="13716">
            <a:spAutoFit/>
          </a:bodyPr>
          <a:lstStyle/>
          <a:p>
            <a:pPr>
              <a:lnSpc>
                <a:spcPct val="122000"/>
              </a:lnSpc>
              <a:spcAft>
                <a:spcPts val="800"/>
              </a:spcAft>
              <a:defRPr sz="1900" b="0">
                <a:solidFill>
                  <a:srgbClr val="687078"/>
                </a:solidFill>
                <a:latin typeface="Noto Sans CJK SC"/>
              </a:defRPr>
            </a:pPr>
            <a:r>
              <a:t>革命实践与制度建设</a:t>
            </a:r>
          </a:p>
        </p:txBody>
      </p:sp>
      <p:sp>
        <p:nvSpPr>
          <p:cNvPr id="20" name="Rectangle 19"/>
          <p:cNvSpPr/>
          <p:nvPr/>
        </p:nvSpPr>
        <p:spPr>
          <a:xfrm>
            <a:off x="6199632" y="3950208"/>
            <a:ext cx="5349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4206240"/>
            <a:ext cx="777240" cy="62179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04</a:t>
            </a:r>
          </a:p>
        </p:txBody>
      </p:sp>
      <p:sp>
        <p:nvSpPr>
          <p:cNvPr id="22" name="TextBox 21"/>
          <p:cNvSpPr txBox="1"/>
          <p:nvPr/>
        </p:nvSpPr>
        <p:spPr>
          <a:xfrm>
            <a:off x="7388352" y="4206240"/>
            <a:ext cx="3931920" cy="521207"/>
          </a:xfrm>
          <a:prstGeom prst="rect">
            <a:avLst/>
          </a:prstGeom>
          <a:noFill/>
        </p:spPr>
        <p:txBody>
          <a:bodyPr wrap="square" lIns="13716" rIns="13716" tIns="13716" bIns="13716">
            <a:spAutoFit/>
          </a:bodyPr>
          <a:lstStyle/>
          <a:p>
            <a:pPr>
              <a:lnSpc>
                <a:spcPct val="122000"/>
              </a:lnSpc>
              <a:spcAft>
                <a:spcPts val="800"/>
              </a:spcAft>
              <a:defRPr sz="2400" b="1">
                <a:solidFill>
                  <a:srgbClr val="242A30"/>
                </a:solidFill>
                <a:latin typeface="Noto Sans CJK SC"/>
              </a:defRPr>
            </a:pPr>
            <a:r>
              <a:t>学习总结</a:t>
            </a:r>
          </a:p>
        </p:txBody>
      </p:sp>
      <p:sp>
        <p:nvSpPr>
          <p:cNvPr id="23" name="TextBox 22"/>
          <p:cNvSpPr txBox="1"/>
          <p:nvPr/>
        </p:nvSpPr>
        <p:spPr>
          <a:xfrm>
            <a:off x="7388352" y="4910328"/>
            <a:ext cx="3931920" cy="502920"/>
          </a:xfrm>
          <a:prstGeom prst="rect">
            <a:avLst/>
          </a:prstGeom>
          <a:noFill/>
        </p:spPr>
        <p:txBody>
          <a:bodyPr wrap="square" lIns="13716" rIns="13716" tIns="13716" bIns="13716">
            <a:spAutoFit/>
          </a:bodyPr>
          <a:lstStyle/>
          <a:p>
            <a:pPr>
              <a:lnSpc>
                <a:spcPct val="122000"/>
              </a:lnSpc>
              <a:spcAft>
                <a:spcPts val="800"/>
              </a:spcAft>
              <a:defRPr sz="1900" b="0">
                <a:solidFill>
                  <a:srgbClr val="687078"/>
                </a:solidFill>
                <a:latin typeface="Noto Sans CJK SC"/>
              </a:defRPr>
            </a:pPr>
            <a:r>
              <a:t>解释框架与证据边界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研读导论</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历史进程的关键节点</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04 / 32</a:t>
            </a:r>
          </a:p>
        </p:txBody>
      </p:sp>
      <p:sp>
        <p:nvSpPr>
          <p:cNvPr id="8" name="Rectangle 7"/>
          <p:cNvSpPr/>
          <p:nvPr/>
        </p:nvSpPr>
        <p:spPr>
          <a:xfrm>
            <a:off x="914400" y="2761488"/>
            <a:ext cx="10332720" cy="22860"/>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47672"/>
            <a:ext cx="1965960" cy="640080"/>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1911</a:t>
            </a:r>
          </a:p>
        </p:txBody>
      </p:sp>
      <p:sp>
        <p:nvSpPr>
          <p:cNvPr id="10" name="Rectangle 9"/>
          <p:cNvSpPr/>
          <p:nvPr/>
        </p:nvSpPr>
        <p:spPr>
          <a:xfrm>
            <a:off x="731519" y="2706624"/>
            <a:ext cx="118872" cy="118872"/>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108960"/>
            <a:ext cx="1965960" cy="960120"/>
          </a:xfrm>
          <a:prstGeom prst="rect">
            <a:avLst/>
          </a:prstGeom>
          <a:noFill/>
        </p:spPr>
        <p:txBody>
          <a:bodyPr wrap="square" lIns="13716" rIns="13716" tIns="13716" bIns="13716">
            <a:spAutoFit/>
          </a:bodyPr>
          <a:lstStyle/>
          <a:p>
            <a:pPr>
              <a:lnSpc>
                <a:spcPct val="122000"/>
              </a:lnSpc>
              <a:spcAft>
                <a:spcPts val="800"/>
              </a:spcAft>
              <a:defRPr sz="2300" b="1">
                <a:solidFill>
                  <a:srgbClr val="242A30"/>
                </a:solidFill>
                <a:latin typeface="Noto Sans CJK SC"/>
              </a:defRPr>
            </a:pPr>
            <a:r>
              <a:t>辛亥革命</a:t>
            </a:r>
          </a:p>
        </p:txBody>
      </p:sp>
      <p:sp>
        <p:nvSpPr>
          <p:cNvPr id="12" name="TextBox 11"/>
          <p:cNvSpPr txBox="1"/>
          <p:nvPr/>
        </p:nvSpPr>
        <p:spPr>
          <a:xfrm>
            <a:off x="640080" y="4315968"/>
            <a:ext cx="1920240" cy="914400"/>
          </a:xfrm>
          <a:prstGeom prst="rect">
            <a:avLst/>
          </a:prstGeom>
          <a:noFill/>
        </p:spPr>
        <p:txBody>
          <a:bodyPr wrap="square" lIns="13716" rIns="13716" tIns="13716" bIns="13716">
            <a:spAutoFit/>
          </a:bodyPr>
          <a:lstStyle/>
          <a:p>
            <a:pPr>
              <a:lnSpc>
                <a:spcPct val="122000"/>
              </a:lnSpc>
              <a:spcAft>
                <a:spcPts val="800"/>
              </a:spcAft>
              <a:defRPr sz="1900" b="0">
                <a:solidFill>
                  <a:srgbClr val="687078"/>
                </a:solidFill>
                <a:latin typeface="Noto Sans CJK SC"/>
              </a:defRPr>
            </a:pPr>
            <a:r>
              <a:t>共和与边疆</a:t>
            </a:r>
          </a:p>
        </p:txBody>
      </p:sp>
      <p:sp>
        <p:nvSpPr>
          <p:cNvPr id="13" name="TextBox 12"/>
          <p:cNvSpPr txBox="1"/>
          <p:nvPr/>
        </p:nvSpPr>
        <p:spPr>
          <a:xfrm>
            <a:off x="2862072" y="1947672"/>
            <a:ext cx="1965960" cy="640080"/>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1931</a:t>
            </a:r>
          </a:p>
        </p:txBody>
      </p:sp>
      <p:sp>
        <p:nvSpPr>
          <p:cNvPr id="14" name="Rectangle 13"/>
          <p:cNvSpPr/>
          <p:nvPr/>
        </p:nvSpPr>
        <p:spPr>
          <a:xfrm>
            <a:off x="2953512" y="2706624"/>
            <a:ext cx="118872" cy="118872"/>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62072" y="3108960"/>
            <a:ext cx="1965960" cy="960120"/>
          </a:xfrm>
          <a:prstGeom prst="rect">
            <a:avLst/>
          </a:prstGeom>
          <a:noFill/>
        </p:spPr>
        <p:txBody>
          <a:bodyPr wrap="square" lIns="13716" rIns="13716" tIns="13716" bIns="13716">
            <a:spAutoFit/>
          </a:bodyPr>
          <a:lstStyle/>
          <a:p>
            <a:pPr>
              <a:lnSpc>
                <a:spcPct val="122000"/>
              </a:lnSpc>
              <a:spcAft>
                <a:spcPts val="800"/>
              </a:spcAft>
              <a:defRPr sz="2300" b="1">
                <a:solidFill>
                  <a:srgbClr val="242A30"/>
                </a:solidFill>
                <a:latin typeface="Noto Sans CJK SC"/>
              </a:defRPr>
            </a:pPr>
            <a:r>
              <a:t>九一八事变</a:t>
            </a:r>
          </a:p>
        </p:txBody>
      </p:sp>
      <p:sp>
        <p:nvSpPr>
          <p:cNvPr id="16" name="TextBox 15"/>
          <p:cNvSpPr txBox="1"/>
          <p:nvPr/>
        </p:nvSpPr>
        <p:spPr>
          <a:xfrm>
            <a:off x="2862072" y="4315968"/>
            <a:ext cx="1920240" cy="914400"/>
          </a:xfrm>
          <a:prstGeom prst="rect">
            <a:avLst/>
          </a:prstGeom>
          <a:noFill/>
        </p:spPr>
        <p:txBody>
          <a:bodyPr wrap="square" lIns="13716" rIns="13716" tIns="13716" bIns="13716">
            <a:spAutoFit/>
          </a:bodyPr>
          <a:lstStyle/>
          <a:p>
            <a:pPr>
              <a:lnSpc>
                <a:spcPct val="122000"/>
              </a:lnSpc>
              <a:spcAft>
                <a:spcPts val="800"/>
              </a:spcAft>
              <a:defRPr sz="1900" b="0">
                <a:solidFill>
                  <a:srgbClr val="687078"/>
                </a:solidFill>
                <a:latin typeface="Noto Sans CJK SC"/>
              </a:defRPr>
            </a:pPr>
            <a:r>
              <a:t>东北危机加剧</a:t>
            </a:r>
          </a:p>
        </p:txBody>
      </p:sp>
      <p:sp>
        <p:nvSpPr>
          <p:cNvPr id="17" name="TextBox 16"/>
          <p:cNvSpPr txBox="1"/>
          <p:nvPr/>
        </p:nvSpPr>
        <p:spPr>
          <a:xfrm>
            <a:off x="5084064" y="1947672"/>
            <a:ext cx="1965960" cy="640080"/>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1937</a:t>
            </a:r>
          </a:p>
        </p:txBody>
      </p:sp>
      <p:sp>
        <p:nvSpPr>
          <p:cNvPr id="18" name="Rectangle 17"/>
          <p:cNvSpPr/>
          <p:nvPr/>
        </p:nvSpPr>
        <p:spPr>
          <a:xfrm>
            <a:off x="5175504" y="2706624"/>
            <a:ext cx="118872" cy="118872"/>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84064" y="3108960"/>
            <a:ext cx="1965960" cy="960120"/>
          </a:xfrm>
          <a:prstGeom prst="rect">
            <a:avLst/>
          </a:prstGeom>
          <a:noFill/>
        </p:spPr>
        <p:txBody>
          <a:bodyPr wrap="square" lIns="13716" rIns="13716" tIns="13716" bIns="13716">
            <a:spAutoFit/>
          </a:bodyPr>
          <a:lstStyle/>
          <a:p>
            <a:pPr>
              <a:lnSpc>
                <a:spcPct val="122000"/>
              </a:lnSpc>
              <a:spcAft>
                <a:spcPts val="800"/>
              </a:spcAft>
              <a:defRPr sz="2300" b="1">
                <a:solidFill>
                  <a:srgbClr val="242A30"/>
                </a:solidFill>
                <a:latin typeface="Noto Sans CJK SC"/>
              </a:defRPr>
            </a:pPr>
            <a:r>
              <a:t>全面抗战</a:t>
            </a:r>
          </a:p>
        </p:txBody>
      </p:sp>
      <p:sp>
        <p:nvSpPr>
          <p:cNvPr id="20" name="TextBox 19"/>
          <p:cNvSpPr txBox="1"/>
          <p:nvPr/>
        </p:nvSpPr>
        <p:spPr>
          <a:xfrm>
            <a:off x="5084064" y="4315968"/>
            <a:ext cx="1920240" cy="914400"/>
          </a:xfrm>
          <a:prstGeom prst="rect">
            <a:avLst/>
          </a:prstGeom>
          <a:noFill/>
        </p:spPr>
        <p:txBody>
          <a:bodyPr wrap="square" lIns="13716" rIns="13716" tIns="13716" bIns="13716">
            <a:spAutoFit/>
          </a:bodyPr>
          <a:lstStyle/>
          <a:p>
            <a:pPr>
              <a:lnSpc>
                <a:spcPct val="122000"/>
              </a:lnSpc>
              <a:spcAft>
                <a:spcPts val="800"/>
              </a:spcAft>
              <a:defRPr sz="1900" b="0">
                <a:solidFill>
                  <a:srgbClr val="687078"/>
                </a:solidFill>
                <a:latin typeface="Noto Sans CJK SC"/>
              </a:defRPr>
            </a:pPr>
            <a:r>
              <a:t>各族共同抗战</a:t>
            </a:r>
          </a:p>
        </p:txBody>
      </p:sp>
      <p:sp>
        <p:nvSpPr>
          <p:cNvPr id="21" name="TextBox 20"/>
          <p:cNvSpPr txBox="1"/>
          <p:nvPr/>
        </p:nvSpPr>
        <p:spPr>
          <a:xfrm>
            <a:off x="7306056" y="1947672"/>
            <a:ext cx="1965960" cy="640080"/>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1947</a:t>
            </a:r>
          </a:p>
        </p:txBody>
      </p:sp>
      <p:sp>
        <p:nvSpPr>
          <p:cNvPr id="22" name="Rectangle 21"/>
          <p:cNvSpPr/>
          <p:nvPr/>
        </p:nvSpPr>
        <p:spPr>
          <a:xfrm>
            <a:off x="7397496" y="2706624"/>
            <a:ext cx="118872" cy="118872"/>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06056" y="3108960"/>
            <a:ext cx="1965960" cy="960120"/>
          </a:xfrm>
          <a:prstGeom prst="rect">
            <a:avLst/>
          </a:prstGeom>
          <a:noFill/>
        </p:spPr>
        <p:txBody>
          <a:bodyPr wrap="square" lIns="13716" rIns="13716" tIns="13716" bIns="13716">
            <a:spAutoFit/>
          </a:bodyPr>
          <a:lstStyle/>
          <a:p>
            <a:pPr>
              <a:lnSpc>
                <a:spcPct val="122000"/>
              </a:lnSpc>
              <a:spcAft>
                <a:spcPts val="800"/>
              </a:spcAft>
              <a:defRPr sz="2300" b="1">
                <a:solidFill>
                  <a:srgbClr val="242A30"/>
                </a:solidFill>
                <a:latin typeface="Noto Sans CJK SC"/>
              </a:defRPr>
            </a:pPr>
            <a:r>
              <a:t>内蒙古自治政府成立</a:t>
            </a:r>
          </a:p>
        </p:txBody>
      </p:sp>
      <p:sp>
        <p:nvSpPr>
          <p:cNvPr id="24" name="TextBox 23"/>
          <p:cNvSpPr txBox="1"/>
          <p:nvPr/>
        </p:nvSpPr>
        <p:spPr>
          <a:xfrm>
            <a:off x="7306056" y="4315968"/>
            <a:ext cx="1920240" cy="914400"/>
          </a:xfrm>
          <a:prstGeom prst="rect">
            <a:avLst/>
          </a:prstGeom>
          <a:noFill/>
        </p:spPr>
        <p:txBody>
          <a:bodyPr wrap="square" lIns="13716" rIns="13716" tIns="13716" bIns="13716">
            <a:spAutoFit/>
          </a:bodyPr>
          <a:lstStyle/>
          <a:p>
            <a:pPr>
              <a:lnSpc>
                <a:spcPct val="122000"/>
              </a:lnSpc>
              <a:spcAft>
                <a:spcPts val="800"/>
              </a:spcAft>
              <a:defRPr sz="1900" b="0">
                <a:solidFill>
                  <a:srgbClr val="687078"/>
                </a:solidFill>
                <a:latin typeface="Noto Sans CJK SC"/>
              </a:defRPr>
            </a:pPr>
            <a:r>
              <a:t>自治制度实践</a:t>
            </a:r>
          </a:p>
        </p:txBody>
      </p:sp>
      <p:sp>
        <p:nvSpPr>
          <p:cNvPr id="25" name="TextBox 24"/>
          <p:cNvSpPr txBox="1"/>
          <p:nvPr/>
        </p:nvSpPr>
        <p:spPr>
          <a:xfrm>
            <a:off x="9528048" y="1947672"/>
            <a:ext cx="1965960" cy="640080"/>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1949</a:t>
            </a:r>
          </a:p>
        </p:txBody>
      </p:sp>
      <p:sp>
        <p:nvSpPr>
          <p:cNvPr id="26" name="Rectangle 25"/>
          <p:cNvSpPr/>
          <p:nvPr/>
        </p:nvSpPr>
        <p:spPr>
          <a:xfrm>
            <a:off x="9619488" y="2706624"/>
            <a:ext cx="118872" cy="118872"/>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28048" y="3108960"/>
            <a:ext cx="1965960" cy="960120"/>
          </a:xfrm>
          <a:prstGeom prst="rect">
            <a:avLst/>
          </a:prstGeom>
          <a:noFill/>
        </p:spPr>
        <p:txBody>
          <a:bodyPr wrap="square" lIns="13716" rIns="13716" tIns="13716" bIns="13716">
            <a:spAutoFit/>
          </a:bodyPr>
          <a:lstStyle/>
          <a:p>
            <a:pPr>
              <a:lnSpc>
                <a:spcPct val="122000"/>
              </a:lnSpc>
              <a:spcAft>
                <a:spcPts val="800"/>
              </a:spcAft>
              <a:defRPr sz="2300" b="1">
                <a:solidFill>
                  <a:srgbClr val="242A30"/>
                </a:solidFill>
                <a:latin typeface="Noto Sans CJK SC"/>
              </a:defRPr>
            </a:pPr>
            <a:r>
              <a:t>新中国成立</a:t>
            </a:r>
          </a:p>
        </p:txBody>
      </p:sp>
      <p:sp>
        <p:nvSpPr>
          <p:cNvPr id="28" name="TextBox 27"/>
          <p:cNvSpPr txBox="1"/>
          <p:nvPr/>
        </p:nvSpPr>
        <p:spPr>
          <a:xfrm>
            <a:off x="9528048" y="4315968"/>
            <a:ext cx="1920240" cy="914400"/>
          </a:xfrm>
          <a:prstGeom prst="rect">
            <a:avLst/>
          </a:prstGeom>
          <a:noFill/>
        </p:spPr>
        <p:txBody>
          <a:bodyPr wrap="square" lIns="13716" rIns="13716" tIns="13716" bIns="13716">
            <a:spAutoFit/>
          </a:bodyPr>
          <a:lstStyle/>
          <a:p>
            <a:pPr>
              <a:lnSpc>
                <a:spcPct val="122000"/>
              </a:lnSpc>
              <a:spcAft>
                <a:spcPts val="800"/>
              </a:spcAft>
              <a:defRPr sz="1900" b="0">
                <a:solidFill>
                  <a:srgbClr val="687078"/>
                </a:solidFill>
                <a:latin typeface="Noto Sans CJK SC"/>
              </a:defRPr>
            </a:pPr>
            <a:r>
              <a:t>民族制度建设</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中国民族关系史 · 专题研读</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05 / 32</a:t>
            </a:r>
          </a:p>
        </p:txBody>
      </p:sp>
      <p:sp>
        <p:nvSpPr>
          <p:cNvPr id="8" name="Rectangle 7"/>
          <p:cNvSpPr/>
          <p:nvPr/>
        </p:nvSpPr>
        <p:spPr>
          <a:xfrm>
            <a:off x="640080" y="1572768"/>
            <a:ext cx="91440" cy="4151376"/>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91640"/>
            <a:ext cx="3657600" cy="1371600"/>
          </a:xfrm>
          <a:prstGeom prst="rect">
            <a:avLst/>
          </a:prstGeom>
          <a:noFill/>
        </p:spPr>
        <p:txBody>
          <a:bodyPr wrap="square" lIns="13716" rIns="13716" tIns="13716" bIns="13716">
            <a:spAutoFit/>
          </a:bodyPr>
          <a:lstStyle/>
          <a:p>
            <a:pPr>
              <a:lnSpc>
                <a:spcPct val="122000"/>
              </a:lnSpc>
              <a:spcAft>
                <a:spcPts val="800"/>
              </a:spcAft>
              <a:defRPr sz="6400" b="1">
                <a:solidFill>
                  <a:srgbClr val="8F2438"/>
                </a:solidFill>
                <a:latin typeface="Noto Sans CJK SC"/>
              </a:defRPr>
            </a:pPr>
            <a:r>
              <a:t>01</a:t>
            </a:r>
          </a:p>
        </p:txBody>
      </p:sp>
      <p:sp>
        <p:nvSpPr>
          <p:cNvPr id="10" name="TextBox 9"/>
          <p:cNvSpPr txBox="1"/>
          <p:nvPr/>
        </p:nvSpPr>
        <p:spPr>
          <a:xfrm>
            <a:off x="987552" y="3017520"/>
            <a:ext cx="7223760" cy="914400"/>
          </a:xfrm>
          <a:prstGeom prst="rect">
            <a:avLst/>
          </a:prstGeom>
          <a:noFill/>
        </p:spPr>
        <p:txBody>
          <a:bodyPr wrap="square" lIns="13716" rIns="13716" tIns="13716" bIns="13716">
            <a:spAutoFit/>
          </a:bodyPr>
          <a:lstStyle/>
          <a:p>
            <a:pPr>
              <a:lnSpc>
                <a:spcPct val="122000"/>
              </a:lnSpc>
              <a:spcAft>
                <a:spcPts val="800"/>
              </a:spcAft>
              <a:defRPr sz="3800" b="1">
                <a:solidFill>
                  <a:srgbClr val="242A30"/>
                </a:solidFill>
                <a:latin typeface="Noto Sans CJK SC"/>
              </a:defRPr>
            </a:pPr>
            <a:r>
              <a:t>边疆形势</a:t>
            </a:r>
          </a:p>
        </p:txBody>
      </p:sp>
      <p:sp>
        <p:nvSpPr>
          <p:cNvPr id="11" name="TextBox 10"/>
          <p:cNvSpPr txBox="1"/>
          <p:nvPr/>
        </p:nvSpPr>
        <p:spPr>
          <a:xfrm>
            <a:off x="1005840" y="4206240"/>
            <a:ext cx="6492240" cy="1097280"/>
          </a:xfrm>
          <a:prstGeom prst="rect">
            <a:avLst/>
          </a:prstGeom>
          <a:noFill/>
        </p:spPr>
        <p:txBody>
          <a:bodyPr wrap="square" lIns="13716" rIns="13716" tIns="13716" bIns="13716">
            <a:spAutoFit/>
          </a:bodyPr>
          <a:lstStyle/>
          <a:p>
            <a:pPr>
              <a:lnSpc>
                <a:spcPct val="122000"/>
              </a:lnSpc>
              <a:spcAft>
                <a:spcPts val="800"/>
              </a:spcAft>
              <a:defRPr sz="2300" b="0">
                <a:solidFill>
                  <a:srgbClr val="687078"/>
                </a:solidFill>
                <a:latin typeface="Noto Sans CJK SC"/>
              </a:defRPr>
            </a:pPr>
            <a:r>
              <a:t>外部侵略如何与地方政治交织？</a:t>
            </a:r>
          </a:p>
        </p:txBody>
      </p:sp>
      <p:sp>
        <p:nvSpPr>
          <p:cNvPr id="12" name="Rectangle 11"/>
          <p:cNvSpPr/>
          <p:nvPr/>
        </p:nvSpPr>
        <p:spPr>
          <a:xfrm>
            <a:off x="7763256" y="1865376"/>
            <a:ext cx="3813048" cy="3493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5-0.png"/>
          <p:cNvPicPr>
            <a:picLocks noChangeAspect="1"/>
          </p:cNvPicPr>
          <p:nvPr/>
        </p:nvPicPr>
        <p:blipFill>
          <a:blip r:embed="rId2"/>
          <a:stretch>
            <a:fillRect/>
          </a:stretch>
        </p:blipFill>
        <p:spPr>
          <a:xfrm>
            <a:off x="7818120" y="2376526"/>
            <a:ext cx="3703320" cy="247070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01  边疆形势</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辛亥革命后的困境</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06 / 32</a:t>
            </a:r>
          </a:p>
        </p:txBody>
      </p:sp>
      <p:sp>
        <p:nvSpPr>
          <p:cNvPr id="8" name="Rectangle 7"/>
          <p:cNvSpPr/>
          <p:nvPr/>
        </p:nvSpPr>
        <p:spPr>
          <a:xfrm>
            <a:off x="64008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共和与民族平等</a:t>
            </a:r>
          </a:p>
        </p:txBody>
      </p:sp>
      <p:sp>
        <p:nvSpPr>
          <p:cNvPr id="11" name="TextBox 10"/>
          <p:cNvSpPr txBox="1"/>
          <p:nvPr/>
        </p:nvSpPr>
        <p:spPr>
          <a:xfrm>
            <a:off x="841247"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辛亥革命推翻清朝统治，提出共和与民族平等的政治主张。但政体变更并未根本改变社会结构，新的国家认同仍面临现实阻力。</a:t>
            </a:r>
          </a:p>
        </p:txBody>
      </p:sp>
      <p:sp>
        <p:nvSpPr>
          <p:cNvPr id="12" name="Rectangle 11"/>
          <p:cNvSpPr/>
          <p:nvPr/>
        </p:nvSpPr>
        <p:spPr>
          <a:xfrm>
            <a:off x="434340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中央与地方关系</a:t>
            </a:r>
          </a:p>
        </p:txBody>
      </p:sp>
      <p:sp>
        <p:nvSpPr>
          <p:cNvPr id="15" name="TextBox 14"/>
          <p:cNvSpPr txBox="1"/>
          <p:nvPr/>
        </p:nvSpPr>
        <p:spPr>
          <a:xfrm>
            <a:off x="454456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军阀割据与地方权力竞争削弱国家整合能力。中央与边疆地方的矛盾，又与地方社会内部的阶层、土地和民族关系相互交织。</a:t>
            </a:r>
          </a:p>
        </p:txBody>
      </p:sp>
      <p:sp>
        <p:nvSpPr>
          <p:cNvPr id="16" name="Rectangle 15"/>
          <p:cNvSpPr/>
          <p:nvPr/>
        </p:nvSpPr>
        <p:spPr>
          <a:xfrm>
            <a:off x="8046719"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外部侵略的介入</a:t>
            </a:r>
          </a:p>
        </p:txBody>
      </p:sp>
      <p:sp>
        <p:nvSpPr>
          <p:cNvPr id="19" name="TextBox 18"/>
          <p:cNvSpPr txBox="1"/>
          <p:nvPr/>
        </p:nvSpPr>
        <p:spPr>
          <a:xfrm>
            <a:off x="824788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列强利用中国内部矛盾扩大影响，使地方问题与国家主权危机相联系。理解边疆动荡，需要兼顾对外关系与内部治理。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01  边疆形势</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东北：殖民控制的多种手段</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07 / 32</a:t>
            </a:r>
          </a:p>
        </p:txBody>
      </p:sp>
      <p:sp>
        <p:nvSpPr>
          <p:cNvPr id="8" name="Rectangle 7"/>
          <p:cNvSpPr/>
          <p:nvPr/>
        </p:nvSpPr>
        <p:spPr>
          <a:xfrm>
            <a:off x="630936" y="1975104"/>
            <a:ext cx="4041648" cy="3493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7-16.png"/>
          <p:cNvPicPr>
            <a:picLocks noChangeAspect="1"/>
          </p:cNvPicPr>
          <p:nvPr/>
        </p:nvPicPr>
        <p:blipFill>
          <a:blip r:embed="rId2"/>
          <a:stretch>
            <a:fillRect/>
          </a:stretch>
        </p:blipFill>
        <p:spPr>
          <a:xfrm>
            <a:off x="685800" y="2437064"/>
            <a:ext cx="3931920" cy="2569086"/>
          </a:xfrm>
          <a:prstGeom prst="rect">
            <a:avLst/>
          </a:prstGeom>
        </p:spPr>
      </p:pic>
      <p:sp>
        <p:nvSpPr>
          <p:cNvPr id="10" name="TextBox 9"/>
          <p:cNvSpPr txBox="1"/>
          <p:nvPr/>
        </p:nvSpPr>
        <p:spPr>
          <a:xfrm>
            <a:off x="694944" y="5504688"/>
            <a:ext cx="3657600" cy="27432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原稿所附图像</a:t>
            </a:r>
          </a:p>
        </p:txBody>
      </p:sp>
      <p:sp>
        <p:nvSpPr>
          <p:cNvPr id="11" name="Rectangle 10"/>
          <p:cNvSpPr/>
          <p:nvPr/>
        </p:nvSpPr>
        <p:spPr>
          <a:xfrm>
            <a:off x="4956048" y="1920240"/>
            <a:ext cx="6583680" cy="13014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57216" y="2029968"/>
            <a:ext cx="6163056" cy="384048"/>
          </a:xfrm>
          <a:prstGeom prst="rect">
            <a:avLst/>
          </a:prstGeom>
          <a:noFill/>
        </p:spPr>
        <p:txBody>
          <a:bodyPr wrap="square" lIns="13716" rIns="13716" tIns="13716" bIns="13716">
            <a:spAutoFit/>
          </a:bodyPr>
          <a:lstStyle/>
          <a:p>
            <a:pPr>
              <a:lnSpc>
                <a:spcPct val="122000"/>
              </a:lnSpc>
              <a:spcAft>
                <a:spcPts val="800"/>
              </a:spcAft>
              <a:defRPr sz="2000" b="1">
                <a:solidFill>
                  <a:srgbClr val="8F2438"/>
                </a:solidFill>
                <a:latin typeface="Noto Sans CJK SC"/>
              </a:defRPr>
            </a:pPr>
            <a:r>
              <a:t>经济控制</a:t>
            </a:r>
          </a:p>
        </p:txBody>
      </p:sp>
      <p:sp>
        <p:nvSpPr>
          <p:cNvPr id="13" name="TextBox 12"/>
          <p:cNvSpPr txBox="1"/>
          <p:nvPr/>
        </p:nvSpPr>
        <p:spPr>
          <a:xfrm>
            <a:off x="5157216" y="2487168"/>
            <a:ext cx="6144768" cy="679703"/>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铁路、矿产及经营机构构成控制网络，资源掠夺与交通控制相互配合。</a:t>
            </a:r>
          </a:p>
        </p:txBody>
      </p:sp>
      <p:sp>
        <p:nvSpPr>
          <p:cNvPr id="14" name="Rectangle 13"/>
          <p:cNvSpPr/>
          <p:nvPr/>
        </p:nvSpPr>
        <p:spPr>
          <a:xfrm>
            <a:off x="4956048" y="3349752"/>
            <a:ext cx="6583680" cy="13014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7216" y="3459480"/>
            <a:ext cx="6163056" cy="384048"/>
          </a:xfrm>
          <a:prstGeom prst="rect">
            <a:avLst/>
          </a:prstGeom>
          <a:noFill/>
        </p:spPr>
        <p:txBody>
          <a:bodyPr wrap="square" lIns="13716" rIns="13716" tIns="13716" bIns="13716">
            <a:spAutoFit/>
          </a:bodyPr>
          <a:lstStyle/>
          <a:p>
            <a:pPr>
              <a:lnSpc>
                <a:spcPct val="122000"/>
              </a:lnSpc>
              <a:spcAft>
                <a:spcPts val="800"/>
              </a:spcAft>
              <a:defRPr sz="2000" b="1">
                <a:solidFill>
                  <a:srgbClr val="8F2438"/>
                </a:solidFill>
                <a:latin typeface="Noto Sans CJK SC"/>
              </a:defRPr>
            </a:pPr>
            <a:r>
              <a:t>政治控制</a:t>
            </a:r>
          </a:p>
        </p:txBody>
      </p:sp>
      <p:sp>
        <p:nvSpPr>
          <p:cNvPr id="16" name="TextBox 15"/>
          <p:cNvSpPr txBox="1"/>
          <p:nvPr/>
        </p:nvSpPr>
        <p:spPr>
          <a:xfrm>
            <a:off x="5157216" y="3916680"/>
            <a:ext cx="6144768" cy="679703"/>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九一八事变后，日本扩大侵略；1932年建立伪满洲国，借助伪政权实施殖民统治。</a:t>
            </a:r>
          </a:p>
        </p:txBody>
      </p:sp>
      <p:sp>
        <p:nvSpPr>
          <p:cNvPr id="17" name="Rectangle 16"/>
          <p:cNvSpPr/>
          <p:nvPr/>
        </p:nvSpPr>
        <p:spPr>
          <a:xfrm>
            <a:off x="4956048" y="4779264"/>
            <a:ext cx="6583680" cy="13014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57216" y="4888992"/>
            <a:ext cx="6163056" cy="384048"/>
          </a:xfrm>
          <a:prstGeom prst="rect">
            <a:avLst/>
          </a:prstGeom>
          <a:noFill/>
        </p:spPr>
        <p:txBody>
          <a:bodyPr wrap="square" lIns="13716" rIns="13716" tIns="13716" bIns="13716">
            <a:spAutoFit/>
          </a:bodyPr>
          <a:lstStyle/>
          <a:p>
            <a:pPr>
              <a:lnSpc>
                <a:spcPct val="122000"/>
              </a:lnSpc>
              <a:spcAft>
                <a:spcPts val="800"/>
              </a:spcAft>
              <a:defRPr sz="2000" b="1">
                <a:solidFill>
                  <a:srgbClr val="8F2438"/>
                </a:solidFill>
                <a:latin typeface="Noto Sans CJK SC"/>
              </a:defRPr>
            </a:pPr>
            <a:r>
              <a:t>文化控制</a:t>
            </a:r>
          </a:p>
        </p:txBody>
      </p:sp>
      <p:sp>
        <p:nvSpPr>
          <p:cNvPr id="19" name="TextBox 18"/>
          <p:cNvSpPr txBox="1"/>
          <p:nvPr/>
        </p:nvSpPr>
        <p:spPr>
          <a:xfrm>
            <a:off x="5157216" y="5346192"/>
            <a:ext cx="6144768" cy="679703"/>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控制学校、出版与历史叙述，借调查和宣传割裂东北与中国的历史联系。</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01  边疆形势</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政治宣传与殖民实践</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08 / 32</a:t>
            </a:r>
          </a:p>
        </p:txBody>
      </p:sp>
      <p:sp>
        <p:nvSpPr>
          <p:cNvPr id="8" name="Rectangle 7"/>
          <p:cNvSpPr/>
          <p:nvPr/>
        </p:nvSpPr>
        <p:spPr>
          <a:xfrm>
            <a:off x="640080" y="1947672"/>
            <a:ext cx="3502152" cy="36210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362102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政治控制</a:t>
            </a:r>
          </a:p>
        </p:txBody>
      </p:sp>
      <p:sp>
        <p:nvSpPr>
          <p:cNvPr id="11" name="TextBox 10"/>
          <p:cNvSpPr txBox="1"/>
          <p:nvPr/>
        </p:nvSpPr>
        <p:spPr>
          <a:xfrm>
            <a:off x="841247" y="2843784"/>
            <a:ext cx="3099816" cy="2615184"/>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扶植傀儡政权，设置蒙政部等机构，介入并控制地方政治。</a:t>
            </a:r>
          </a:p>
        </p:txBody>
      </p:sp>
      <p:sp>
        <p:nvSpPr>
          <p:cNvPr id="12" name="Rectangle 11"/>
          <p:cNvSpPr/>
          <p:nvPr/>
        </p:nvSpPr>
        <p:spPr>
          <a:xfrm>
            <a:off x="4343400" y="1947672"/>
            <a:ext cx="3502152" cy="36210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947672"/>
            <a:ext cx="41148" cy="362102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军事与社会控制</a:t>
            </a:r>
          </a:p>
        </p:txBody>
      </p:sp>
      <p:sp>
        <p:nvSpPr>
          <p:cNvPr id="15" name="TextBox 14"/>
          <p:cNvSpPr txBox="1"/>
          <p:nvPr/>
        </p:nvSpPr>
        <p:spPr>
          <a:xfrm>
            <a:off x="4544568" y="2843784"/>
            <a:ext cx="3099816" cy="2615184"/>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依靠军警、特务及保甲组织，推行“集团部落”等措施，加强对人口和社会的控制。</a:t>
            </a:r>
          </a:p>
        </p:txBody>
      </p:sp>
      <p:sp>
        <p:nvSpPr>
          <p:cNvPr id="16" name="Rectangle 15"/>
          <p:cNvSpPr/>
          <p:nvPr/>
        </p:nvSpPr>
        <p:spPr>
          <a:xfrm>
            <a:off x="8046719" y="1947672"/>
            <a:ext cx="3502152" cy="36210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947672"/>
            <a:ext cx="41148" cy="362102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文化与知识控制</a:t>
            </a:r>
          </a:p>
        </p:txBody>
      </p:sp>
      <p:sp>
        <p:nvSpPr>
          <p:cNvPr id="19" name="TextBox 18"/>
          <p:cNvSpPr txBox="1"/>
          <p:nvPr/>
        </p:nvSpPr>
        <p:spPr>
          <a:xfrm>
            <a:off x="8247888" y="2843784"/>
            <a:ext cx="3099816" cy="2615184"/>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通过奴化教育、历史歪曲和文化宣传，挑拨民族关系，为殖民统治制造合法性借口。</a:t>
            </a:r>
          </a:p>
        </p:txBody>
      </p:sp>
      <p:sp>
        <p:nvSpPr>
          <p:cNvPr id="20" name="Rectangle 19"/>
          <p:cNvSpPr/>
          <p:nvPr/>
        </p:nvSpPr>
        <p:spPr>
          <a:xfrm>
            <a:off x="640080" y="5806440"/>
            <a:ext cx="10908792" cy="393192"/>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856731"/>
            <a:ext cx="10561320" cy="301752"/>
          </a:xfrm>
          <a:prstGeom prst="rect">
            <a:avLst/>
          </a:prstGeom>
          <a:noFill/>
        </p:spPr>
        <p:txBody>
          <a:bodyPr wrap="square" lIns="13716" rIns="13716" tIns="13716" bIns="13716">
            <a:spAutoFit/>
          </a:bodyPr>
          <a:lstStyle/>
          <a:p>
            <a:pPr>
              <a:lnSpc>
                <a:spcPct val="122000"/>
              </a:lnSpc>
              <a:spcAft>
                <a:spcPts val="800"/>
              </a:spcAft>
              <a:defRPr sz="1400" b="0">
                <a:solidFill>
                  <a:srgbClr val="8F2438"/>
                </a:solidFill>
                <a:latin typeface="Noto Sans CJK SC"/>
              </a:defRPr>
            </a:pPr>
            <a:r>
              <a:t>殖民控制不仅针对土地和人口，也介入教育、历史叙述与民族认同。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01  边疆形势</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内蒙古：对“自治”诉求的政治利用</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09 / 32</a:t>
            </a:r>
          </a:p>
        </p:txBody>
      </p:sp>
      <p:sp>
        <p:nvSpPr>
          <p:cNvPr id="8" name="Rectangle 7"/>
          <p:cNvSpPr/>
          <p:nvPr/>
        </p:nvSpPr>
        <p:spPr>
          <a:xfrm>
            <a:off x="640080" y="1947672"/>
            <a:ext cx="5353812" cy="36210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362102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4951475"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自治运动的地方背景</a:t>
            </a:r>
          </a:p>
        </p:txBody>
      </p:sp>
      <p:sp>
        <p:nvSpPr>
          <p:cNvPr id="11" name="TextBox 10"/>
          <p:cNvSpPr txBox="1"/>
          <p:nvPr/>
        </p:nvSpPr>
        <p:spPr>
          <a:xfrm>
            <a:off x="841247" y="2843784"/>
            <a:ext cx="4951475" cy="2615184"/>
          </a:xfrm>
          <a:prstGeom prst="rect">
            <a:avLst/>
          </a:prstGeom>
          <a:noFill/>
        </p:spPr>
        <p:txBody>
          <a:bodyPr wrap="square" lIns="13716" rIns="13716" tIns="13716" bIns="13716">
            <a:spAutoFit/>
          </a:bodyPr>
          <a:lstStyle/>
          <a:p>
            <a:pPr>
              <a:lnSpc>
                <a:spcPct val="122000"/>
              </a:lnSpc>
              <a:spcAft>
                <a:spcPts val="800"/>
              </a:spcAft>
              <a:defRPr sz="2100" b="0">
                <a:solidFill>
                  <a:srgbClr val="242A30"/>
                </a:solidFill>
                <a:latin typeface="Noto Sans CJK SC"/>
              </a:defRPr>
            </a:pPr>
            <a:r>
              <a:t>1933年，德王等在百灵庙提出“蒙古高度自治”及成立自治政府的要求。南京国民政府派员宣慰并提出改革方案，双方围绕自治范围、制度与程度展开交涉。</a:t>
            </a:r>
          </a:p>
        </p:txBody>
      </p:sp>
      <p:sp>
        <p:nvSpPr>
          <p:cNvPr id="12" name="Rectangle 11"/>
          <p:cNvSpPr/>
          <p:nvPr/>
        </p:nvSpPr>
        <p:spPr>
          <a:xfrm>
            <a:off x="6195059" y="1947672"/>
            <a:ext cx="5353812" cy="36210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5059" y="1947672"/>
            <a:ext cx="41148" cy="362102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7" y="2112264"/>
            <a:ext cx="4951475"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日本对地方政治的利用</a:t>
            </a:r>
          </a:p>
        </p:txBody>
      </p:sp>
      <p:sp>
        <p:nvSpPr>
          <p:cNvPr id="15" name="TextBox 14"/>
          <p:cNvSpPr txBox="1"/>
          <p:nvPr/>
        </p:nvSpPr>
        <p:spPr>
          <a:xfrm>
            <a:off x="6396227" y="2843784"/>
            <a:ext cx="4951475" cy="2615184"/>
          </a:xfrm>
          <a:prstGeom prst="rect">
            <a:avLst/>
          </a:prstGeom>
          <a:noFill/>
        </p:spPr>
        <p:txBody>
          <a:bodyPr wrap="square" lIns="13716" rIns="13716" tIns="13716" bIns="13716">
            <a:spAutoFit/>
          </a:bodyPr>
          <a:lstStyle/>
          <a:p>
            <a:pPr>
              <a:lnSpc>
                <a:spcPct val="122000"/>
              </a:lnSpc>
              <a:spcAft>
                <a:spcPts val="800"/>
              </a:spcAft>
              <a:defRPr sz="2100" b="0">
                <a:solidFill>
                  <a:srgbClr val="242A30"/>
                </a:solidFill>
                <a:latin typeface="Noto Sans CJK SC"/>
              </a:defRPr>
            </a:pPr>
            <a:r>
              <a:t>德王此前已与日本接触；自治谈判受阻后，又转向寻求日本支持。地方上层并非立场一致，内部意见分化也影响了运动走向。</a:t>
            </a:r>
          </a:p>
        </p:txBody>
      </p:sp>
      <p:sp>
        <p:nvSpPr>
          <p:cNvPr id="16" name="Rectangle 15"/>
          <p:cNvSpPr/>
          <p:nvPr/>
        </p:nvSpPr>
        <p:spPr>
          <a:xfrm>
            <a:off x="640080" y="5806440"/>
            <a:ext cx="10908792" cy="393192"/>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5856731"/>
            <a:ext cx="10561320" cy="301752"/>
          </a:xfrm>
          <a:prstGeom prst="rect">
            <a:avLst/>
          </a:prstGeom>
          <a:noFill/>
        </p:spPr>
        <p:txBody>
          <a:bodyPr wrap="square" lIns="13716" rIns="13716" tIns="13716" bIns="13716">
            <a:spAutoFit/>
          </a:bodyPr>
          <a:lstStyle/>
          <a:p>
            <a:pPr>
              <a:lnSpc>
                <a:spcPct val="122000"/>
              </a:lnSpc>
              <a:spcAft>
                <a:spcPts val="800"/>
              </a:spcAft>
              <a:defRPr sz="1400" b="0">
                <a:solidFill>
                  <a:srgbClr val="8F2438"/>
                </a:solidFill>
                <a:latin typeface="Noto Sans CJK SC"/>
              </a:defRPr>
            </a:pPr>
            <a:r>
              <a:t>分析重点：区分地方自治诉求、上层政治选择与日本侵略势力的利用。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01  边疆形势</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新疆：地方统治与民族关系</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10 / 32</a:t>
            </a:r>
          </a:p>
        </p:txBody>
      </p:sp>
      <p:sp>
        <p:nvSpPr>
          <p:cNvPr id="8" name="Rectangle 7"/>
          <p:cNvSpPr/>
          <p:nvPr/>
        </p:nvSpPr>
        <p:spPr>
          <a:xfrm>
            <a:off x="640080" y="1947672"/>
            <a:ext cx="5353812" cy="36210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362102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4951475"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杨增新：维持地方秩序</a:t>
            </a:r>
          </a:p>
        </p:txBody>
      </p:sp>
      <p:sp>
        <p:nvSpPr>
          <p:cNvPr id="11" name="TextBox 10"/>
          <p:cNvSpPr txBox="1"/>
          <p:nvPr/>
        </p:nvSpPr>
        <p:spPr>
          <a:xfrm>
            <a:off x="841247" y="2843784"/>
            <a:ext cx="4951475" cy="2615184"/>
          </a:xfrm>
          <a:prstGeom prst="rect">
            <a:avLst/>
          </a:prstGeom>
          <a:noFill/>
        </p:spPr>
        <p:txBody>
          <a:bodyPr wrap="square" lIns="13716" rIns="13716" tIns="13716" bIns="13716">
            <a:spAutoFit/>
          </a:bodyPr>
          <a:lstStyle/>
          <a:p>
            <a:pPr>
              <a:lnSpc>
                <a:spcPct val="122000"/>
              </a:lnSpc>
              <a:spcAft>
                <a:spcPts val="800"/>
              </a:spcAft>
              <a:defRPr sz="2100" b="0">
                <a:solidFill>
                  <a:srgbClr val="242A30"/>
                </a:solidFill>
                <a:latin typeface="Noto Sans CJK SC"/>
              </a:defRPr>
            </a:pPr>
            <a:r>
              <a:t>俄国十月革命后，部分白俄军队流入新疆。杨增新拒绝英日提出的出兵干涉要求，同时加强边防，要求入境人员依照中国法律解除武装并接受安置。</a:t>
            </a:r>
          </a:p>
        </p:txBody>
      </p:sp>
      <p:sp>
        <p:nvSpPr>
          <p:cNvPr id="12" name="Rectangle 11"/>
          <p:cNvSpPr/>
          <p:nvPr/>
        </p:nvSpPr>
        <p:spPr>
          <a:xfrm>
            <a:off x="6195059" y="1947672"/>
            <a:ext cx="5353812" cy="36210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5059" y="1947672"/>
            <a:ext cx="41148" cy="362102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7" y="2112264"/>
            <a:ext cx="4951475"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金树仁：改革与利益失衡</a:t>
            </a:r>
          </a:p>
        </p:txBody>
      </p:sp>
      <p:sp>
        <p:nvSpPr>
          <p:cNvPr id="15" name="TextBox 14"/>
          <p:cNvSpPr txBox="1"/>
          <p:nvPr/>
        </p:nvSpPr>
        <p:spPr>
          <a:xfrm>
            <a:off x="6396227" y="2843784"/>
            <a:ext cx="4951475" cy="2615184"/>
          </a:xfrm>
          <a:prstGeom prst="rect">
            <a:avLst/>
          </a:prstGeom>
          <a:noFill/>
        </p:spPr>
        <p:txBody>
          <a:bodyPr wrap="square" lIns="13716" rIns="13716" tIns="13716" bIns="13716">
            <a:spAutoFit/>
          </a:bodyPr>
          <a:lstStyle/>
          <a:p>
            <a:pPr>
              <a:lnSpc>
                <a:spcPct val="122000"/>
              </a:lnSpc>
              <a:spcAft>
                <a:spcPts val="800"/>
              </a:spcAft>
              <a:defRPr sz="2100" b="0">
                <a:solidFill>
                  <a:srgbClr val="242A30"/>
                </a:solidFill>
                <a:latin typeface="Noto Sans CJK SC"/>
              </a:defRPr>
            </a:pPr>
            <a:r>
              <a:t>哈密民众要求废除王制、改土归流，但金树仁实施中的利益分配和土地处置损害了当地维吾尔族农民利益，驻军扰民等问题进一步激化矛盾。</a:t>
            </a:r>
          </a:p>
        </p:txBody>
      </p:sp>
      <p:sp>
        <p:nvSpPr>
          <p:cNvPr id="16" name="Rectangle 15"/>
          <p:cNvSpPr/>
          <p:nvPr/>
        </p:nvSpPr>
        <p:spPr>
          <a:xfrm>
            <a:off x="640080" y="5806440"/>
            <a:ext cx="10908792" cy="393192"/>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5856731"/>
            <a:ext cx="10561320" cy="301752"/>
          </a:xfrm>
          <a:prstGeom prst="rect">
            <a:avLst/>
          </a:prstGeom>
          <a:noFill/>
        </p:spPr>
        <p:txBody>
          <a:bodyPr wrap="square" lIns="13716" rIns="13716" tIns="13716" bIns="13716">
            <a:spAutoFit/>
          </a:bodyPr>
          <a:lstStyle/>
          <a:p>
            <a:pPr>
              <a:lnSpc>
                <a:spcPct val="122000"/>
              </a:lnSpc>
              <a:spcAft>
                <a:spcPts val="800"/>
              </a:spcAft>
              <a:defRPr sz="1400" b="0">
                <a:solidFill>
                  <a:srgbClr val="8F2438"/>
                </a:solidFill>
                <a:latin typeface="Noto Sans CJK SC"/>
              </a:defRPr>
            </a:pPr>
            <a:r>
              <a:t>政策效果取决于具体治理方式，以及政策对地方利益关系的影响。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01  边疆形势</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盛世才时期：政策调整及其限度</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11 / 32</a:t>
            </a:r>
          </a:p>
        </p:txBody>
      </p:sp>
      <p:sp>
        <p:nvSpPr>
          <p:cNvPr id="8" name="Rectangle 7"/>
          <p:cNvSpPr/>
          <p:nvPr/>
        </p:nvSpPr>
        <p:spPr>
          <a:xfrm>
            <a:off x="64008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政策主张</a:t>
            </a:r>
          </a:p>
        </p:txBody>
      </p:sp>
      <p:sp>
        <p:nvSpPr>
          <p:cNvPr id="11" name="TextBox 10"/>
          <p:cNvSpPr txBox="1"/>
          <p:nvPr/>
        </p:nvSpPr>
        <p:spPr>
          <a:xfrm>
            <a:off x="841247"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战乱后，盛世才提出反帝、亲苏、民平、清廉、和平、建设“六大政策”，试图恢复经济、整顿财政并缓和民族矛盾。</a:t>
            </a:r>
          </a:p>
        </p:txBody>
      </p:sp>
      <p:sp>
        <p:nvSpPr>
          <p:cNvPr id="12" name="Rectangle 11"/>
          <p:cNvSpPr/>
          <p:nvPr/>
        </p:nvSpPr>
        <p:spPr>
          <a:xfrm>
            <a:off x="434340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组织与文化措施</a:t>
            </a:r>
          </a:p>
        </p:txBody>
      </p:sp>
      <p:sp>
        <p:nvSpPr>
          <p:cNvPr id="15" name="TextBox 14"/>
          <p:cNvSpPr txBox="1"/>
          <p:nvPr/>
        </p:nvSpPr>
        <p:spPr>
          <a:xfrm>
            <a:off x="454456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少数民族人士进入省、厅、区、县等机构，民族学校和民族文字报纸相继出现。1935年召开民族代表大会，并成立新疆民众联合会。</a:t>
            </a:r>
          </a:p>
        </p:txBody>
      </p:sp>
      <p:sp>
        <p:nvSpPr>
          <p:cNvPr id="16" name="Rectangle 15"/>
          <p:cNvSpPr/>
          <p:nvPr/>
        </p:nvSpPr>
        <p:spPr>
          <a:xfrm>
            <a:off x="8046719"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称谓与社会关系</a:t>
            </a:r>
          </a:p>
        </p:txBody>
      </p:sp>
      <p:sp>
        <p:nvSpPr>
          <p:cNvPr id="19" name="TextBox 18"/>
          <p:cNvSpPr txBox="1"/>
          <p:nvPr/>
        </p:nvSpPr>
        <p:spPr>
          <a:xfrm>
            <a:off x="824788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代表大会讨论民族称谓，推动以相应民族名称替代带有歧视性的旧称。这些措施在当时有助于稳定社会，仍需结合后来的政治转向评价。</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01  边疆形势</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西藏与西康：外部干预和行政回应</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12 / 32</a:t>
            </a:r>
          </a:p>
        </p:txBody>
      </p:sp>
      <p:sp>
        <p:nvSpPr>
          <p:cNvPr id="8" name="Rectangle 7"/>
          <p:cNvSpPr/>
          <p:nvPr/>
        </p:nvSpPr>
        <p:spPr>
          <a:xfrm>
            <a:off x="64008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外部干预</a:t>
            </a:r>
          </a:p>
        </p:txBody>
      </p:sp>
      <p:sp>
        <p:nvSpPr>
          <p:cNvPr id="11" name="TextBox 10"/>
          <p:cNvSpPr txBox="1"/>
          <p:nvPr/>
        </p:nvSpPr>
        <p:spPr>
          <a:xfrm>
            <a:off x="841247"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英国对西藏及周边地区的干预，与其扩大政治影响的目标相联系。地方军事冲突、上层政治分歧与对外关系共同影响区域局势。</a:t>
            </a:r>
          </a:p>
        </p:txBody>
      </p:sp>
      <p:sp>
        <p:nvSpPr>
          <p:cNvPr id="12" name="Rectangle 11"/>
          <p:cNvSpPr/>
          <p:nvPr/>
        </p:nvSpPr>
        <p:spPr>
          <a:xfrm>
            <a:off x="434340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西康建省过程</a:t>
            </a:r>
          </a:p>
        </p:txBody>
      </p:sp>
      <p:sp>
        <p:nvSpPr>
          <p:cNvPr id="15" name="TextBox 14"/>
          <p:cNvSpPr txBox="1"/>
          <p:nvPr/>
        </p:nvSpPr>
        <p:spPr>
          <a:xfrm>
            <a:off x="454456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1929年的西康建省方案因战争等因素未能实施。此后设置建省机构，围绕交通开发、资源调查、疆界厘定、地方制度及教育开展筹备。</a:t>
            </a:r>
          </a:p>
        </p:txBody>
      </p:sp>
      <p:sp>
        <p:nvSpPr>
          <p:cNvPr id="16" name="Rectangle 15"/>
          <p:cNvSpPr/>
          <p:nvPr/>
        </p:nvSpPr>
        <p:spPr>
          <a:xfrm>
            <a:off x="8046719"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行政落实条件</a:t>
            </a:r>
          </a:p>
        </p:txBody>
      </p:sp>
      <p:sp>
        <p:nvSpPr>
          <p:cNvPr id="19" name="TextBox 18"/>
          <p:cNvSpPr txBox="1"/>
          <p:nvPr/>
        </p:nvSpPr>
        <p:spPr>
          <a:xfrm>
            <a:off x="824788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建省筹备与地方军事、政治关系密切相关。行政区划的确立还需要调查、人才和资源支持，不能仅靠一项建制命令完成。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01  边疆形势</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云南边境：边界争议中的地方行动</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13 / 32</a:t>
            </a:r>
          </a:p>
        </p:txBody>
      </p:sp>
      <p:sp>
        <p:nvSpPr>
          <p:cNvPr id="8" name="TextBox 7"/>
          <p:cNvSpPr txBox="1"/>
          <p:nvPr/>
        </p:nvSpPr>
        <p:spPr>
          <a:xfrm>
            <a:off x="685800" y="1737360"/>
            <a:ext cx="10789920" cy="685800"/>
          </a:xfrm>
          <a:prstGeom prst="rect">
            <a:avLst/>
          </a:prstGeom>
          <a:noFill/>
        </p:spPr>
        <p:txBody>
          <a:bodyPr wrap="square" lIns="13716" rIns="13716" tIns="13716" bIns="13716">
            <a:spAutoFit/>
          </a:bodyPr>
          <a:lstStyle/>
          <a:p>
            <a:pPr>
              <a:lnSpc>
                <a:spcPct val="122000"/>
              </a:lnSpc>
              <a:spcAft>
                <a:spcPts val="800"/>
              </a:spcAft>
              <a:defRPr sz="2000" b="0">
                <a:solidFill>
                  <a:srgbClr val="687078"/>
                </a:solidFill>
                <a:latin typeface="Noto Sans CJK SC"/>
              </a:defRPr>
            </a:pPr>
            <a:r>
              <a:t>背景｜班洪、班老地区的银矿和铅矿资源，引发英国侵占矿区的企图。</a:t>
            </a:r>
          </a:p>
        </p:txBody>
      </p:sp>
      <p:sp>
        <p:nvSpPr>
          <p:cNvPr id="9" name="Rectangle 8"/>
          <p:cNvSpPr/>
          <p:nvPr/>
        </p:nvSpPr>
        <p:spPr>
          <a:xfrm>
            <a:off x="640080" y="2706624"/>
            <a:ext cx="3502152" cy="32552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706624"/>
            <a:ext cx="41148" cy="32552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871216"/>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武装侵占矿区</a:t>
            </a:r>
          </a:p>
        </p:txBody>
      </p:sp>
      <p:sp>
        <p:nvSpPr>
          <p:cNvPr id="12" name="TextBox 11"/>
          <p:cNvSpPr txBox="1"/>
          <p:nvPr/>
        </p:nvSpPr>
        <p:spPr>
          <a:xfrm>
            <a:off x="841247" y="3602736"/>
            <a:ext cx="3099816" cy="2249424"/>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英军以武力侵占矿区，激起当地佤族及云南各族民众的反抗。</a:t>
            </a:r>
          </a:p>
        </p:txBody>
      </p:sp>
      <p:sp>
        <p:nvSpPr>
          <p:cNvPr id="13" name="TextBox 12"/>
          <p:cNvSpPr txBox="1"/>
          <p:nvPr/>
        </p:nvSpPr>
        <p:spPr>
          <a:xfrm>
            <a:off x="850392" y="2350008"/>
            <a:ext cx="3108960" cy="329184"/>
          </a:xfrm>
          <a:prstGeom prst="rect">
            <a:avLst/>
          </a:prstGeom>
          <a:noFill/>
        </p:spPr>
        <p:txBody>
          <a:bodyPr wrap="square" lIns="13716" rIns="13716" tIns="13716" bIns="13716">
            <a:spAutoFit/>
          </a:bodyPr>
          <a:lstStyle/>
          <a:p>
            <a:pPr>
              <a:lnSpc>
                <a:spcPct val="122000"/>
              </a:lnSpc>
              <a:spcAft>
                <a:spcPts val="800"/>
              </a:spcAft>
              <a:defRPr sz="1600" b="1">
                <a:solidFill>
                  <a:srgbClr val="8F2438"/>
                </a:solidFill>
                <a:latin typeface="Noto Sans CJK SC"/>
              </a:defRPr>
            </a:pPr>
            <a:r>
              <a:t>1934年1月</a:t>
            </a:r>
          </a:p>
        </p:txBody>
      </p:sp>
      <p:sp>
        <p:nvSpPr>
          <p:cNvPr id="14" name="Rectangle 13"/>
          <p:cNvSpPr/>
          <p:nvPr/>
        </p:nvSpPr>
        <p:spPr>
          <a:xfrm>
            <a:off x="4343400" y="2706624"/>
            <a:ext cx="3502152" cy="32552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2706624"/>
            <a:ext cx="41148" cy="32552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2871216"/>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各族联合抗英</a:t>
            </a:r>
          </a:p>
        </p:txBody>
      </p:sp>
      <p:sp>
        <p:nvSpPr>
          <p:cNvPr id="17" name="TextBox 16"/>
          <p:cNvSpPr txBox="1"/>
          <p:nvPr/>
        </p:nvSpPr>
        <p:spPr>
          <a:xfrm>
            <a:off x="4544568" y="3602736"/>
            <a:ext cx="3099816" cy="2249424"/>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班洪、班老邀集周边十余个部落剽牛立盟，组织武装；各族义勇军千余人驰援。</a:t>
            </a:r>
          </a:p>
        </p:txBody>
      </p:sp>
      <p:sp>
        <p:nvSpPr>
          <p:cNvPr id="18" name="TextBox 17"/>
          <p:cNvSpPr txBox="1"/>
          <p:nvPr/>
        </p:nvSpPr>
        <p:spPr>
          <a:xfrm>
            <a:off x="4553712" y="2350008"/>
            <a:ext cx="3108960" cy="329184"/>
          </a:xfrm>
          <a:prstGeom prst="rect">
            <a:avLst/>
          </a:prstGeom>
          <a:noFill/>
        </p:spPr>
        <p:txBody>
          <a:bodyPr wrap="square" lIns="13716" rIns="13716" tIns="13716" bIns="13716">
            <a:spAutoFit/>
          </a:bodyPr>
          <a:lstStyle/>
          <a:p>
            <a:pPr>
              <a:lnSpc>
                <a:spcPct val="122000"/>
              </a:lnSpc>
              <a:spcAft>
                <a:spcPts val="800"/>
              </a:spcAft>
              <a:defRPr sz="1600" b="1">
                <a:solidFill>
                  <a:srgbClr val="8F2438"/>
                </a:solidFill>
                <a:latin typeface="Noto Sans CJK SC"/>
              </a:defRPr>
            </a:pPr>
            <a:r>
              <a:t>1934年2月</a:t>
            </a:r>
          </a:p>
        </p:txBody>
      </p:sp>
      <p:sp>
        <p:nvSpPr>
          <p:cNvPr id="19" name="Rectangle 18"/>
          <p:cNvSpPr/>
          <p:nvPr/>
        </p:nvSpPr>
        <p:spPr>
          <a:xfrm>
            <a:off x="8046719" y="2706624"/>
            <a:ext cx="3502152" cy="32552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19" y="2706624"/>
            <a:ext cx="41148" cy="32552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2871216"/>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施压与斗争受压制</a:t>
            </a:r>
          </a:p>
        </p:txBody>
      </p:sp>
      <p:sp>
        <p:nvSpPr>
          <p:cNvPr id="22" name="TextBox 21"/>
          <p:cNvSpPr txBox="1"/>
          <p:nvPr/>
        </p:nvSpPr>
        <p:spPr>
          <a:xfrm>
            <a:off x="8247888" y="3602736"/>
            <a:ext cx="3099816" cy="2249424"/>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英方在军事受挫后向南京政府施压。南京政府强令义勇军撤退，当地抗争受到压制。</a:t>
            </a:r>
          </a:p>
        </p:txBody>
      </p:sp>
      <p:sp>
        <p:nvSpPr>
          <p:cNvPr id="23" name="TextBox 22"/>
          <p:cNvSpPr txBox="1"/>
          <p:nvPr/>
        </p:nvSpPr>
        <p:spPr>
          <a:xfrm>
            <a:off x="8257031" y="2350008"/>
            <a:ext cx="3108960" cy="329184"/>
          </a:xfrm>
          <a:prstGeom prst="rect">
            <a:avLst/>
          </a:prstGeom>
          <a:noFill/>
        </p:spPr>
        <p:txBody>
          <a:bodyPr wrap="square" lIns="13716" rIns="13716" tIns="13716" bIns="13716">
            <a:spAutoFit/>
          </a:bodyPr>
          <a:lstStyle/>
          <a:p>
            <a:pPr>
              <a:lnSpc>
                <a:spcPct val="122000"/>
              </a:lnSpc>
              <a:spcAft>
                <a:spcPts val="800"/>
              </a:spcAft>
              <a:defRPr sz="1600" b="1">
                <a:solidFill>
                  <a:srgbClr val="8F2438"/>
                </a:solidFill>
                <a:latin typeface="Noto Sans CJK SC"/>
              </a:defRPr>
            </a:pPr>
            <a:r>
              <a:t>1934年4月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01  边疆形势</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不同区域的危机机制</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14 / 32</a:t>
            </a:r>
          </a:p>
        </p:txBody>
      </p:sp>
      <p:sp>
        <p:nvSpPr>
          <p:cNvPr id="8" name="Rectangle 7"/>
          <p:cNvSpPr/>
          <p:nvPr/>
        </p:nvSpPr>
        <p:spPr>
          <a:xfrm>
            <a:off x="640080" y="1874519"/>
            <a:ext cx="2084831" cy="749808"/>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993391"/>
            <a:ext cx="1810511" cy="594360"/>
          </a:xfrm>
          <a:prstGeom prst="rect">
            <a:avLst/>
          </a:prstGeom>
          <a:noFill/>
        </p:spPr>
        <p:txBody>
          <a:bodyPr wrap="square" lIns="13716" rIns="13716" tIns="13716" bIns="13716">
            <a:spAutoFit/>
          </a:bodyPr>
          <a:lstStyle/>
          <a:p>
            <a:pPr>
              <a:lnSpc>
                <a:spcPct val="122000"/>
              </a:lnSpc>
              <a:spcAft>
                <a:spcPts val="800"/>
              </a:spcAft>
              <a:defRPr sz="1900" b="1">
                <a:solidFill>
                  <a:srgbClr val="FFFFFF"/>
                </a:solidFill>
                <a:latin typeface="Noto Sans CJK SC"/>
              </a:defRPr>
            </a:pPr>
            <a:r>
              <a:t>区域</a:t>
            </a:r>
          </a:p>
        </p:txBody>
      </p:sp>
      <p:sp>
        <p:nvSpPr>
          <p:cNvPr id="10" name="Rectangle 9"/>
          <p:cNvSpPr/>
          <p:nvPr/>
        </p:nvSpPr>
        <p:spPr>
          <a:xfrm>
            <a:off x="2770632" y="1874519"/>
            <a:ext cx="4014215" cy="749808"/>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16936" y="1993391"/>
            <a:ext cx="3739896" cy="594360"/>
          </a:xfrm>
          <a:prstGeom prst="rect">
            <a:avLst/>
          </a:prstGeom>
          <a:noFill/>
        </p:spPr>
        <p:txBody>
          <a:bodyPr wrap="square" lIns="13716" rIns="13716" tIns="13716" bIns="13716">
            <a:spAutoFit/>
          </a:bodyPr>
          <a:lstStyle/>
          <a:p>
            <a:pPr>
              <a:lnSpc>
                <a:spcPct val="122000"/>
              </a:lnSpc>
              <a:spcAft>
                <a:spcPts val="800"/>
              </a:spcAft>
              <a:defRPr sz="1900" b="1">
                <a:solidFill>
                  <a:srgbClr val="FFFFFF"/>
                </a:solidFill>
                <a:latin typeface="Noto Sans CJK SC"/>
              </a:defRPr>
            </a:pPr>
            <a:r>
              <a:t>主要压力</a:t>
            </a:r>
          </a:p>
        </p:txBody>
      </p:sp>
      <p:sp>
        <p:nvSpPr>
          <p:cNvPr id="12" name="Rectangle 11"/>
          <p:cNvSpPr/>
          <p:nvPr/>
        </p:nvSpPr>
        <p:spPr>
          <a:xfrm>
            <a:off x="6830568" y="1874519"/>
            <a:ext cx="4718304" cy="749808"/>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76872" y="1993391"/>
            <a:ext cx="4443984" cy="594360"/>
          </a:xfrm>
          <a:prstGeom prst="rect">
            <a:avLst/>
          </a:prstGeom>
          <a:noFill/>
        </p:spPr>
        <p:txBody>
          <a:bodyPr wrap="square" lIns="13716" rIns="13716" tIns="13716" bIns="13716">
            <a:spAutoFit/>
          </a:bodyPr>
          <a:lstStyle/>
          <a:p>
            <a:pPr>
              <a:lnSpc>
                <a:spcPct val="122000"/>
              </a:lnSpc>
              <a:spcAft>
                <a:spcPts val="800"/>
              </a:spcAft>
              <a:defRPr sz="1900" b="1">
                <a:solidFill>
                  <a:srgbClr val="FFFFFF"/>
                </a:solidFill>
                <a:latin typeface="Noto Sans CJK SC"/>
              </a:defRPr>
            </a:pPr>
            <a:r>
              <a:t>比较重点</a:t>
            </a:r>
          </a:p>
        </p:txBody>
      </p:sp>
      <p:sp>
        <p:nvSpPr>
          <p:cNvPr id="14" name="Rectangle 13"/>
          <p:cNvSpPr/>
          <p:nvPr/>
        </p:nvSpPr>
        <p:spPr>
          <a:xfrm>
            <a:off x="640080" y="2679191"/>
            <a:ext cx="2084831"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2798063"/>
            <a:ext cx="1810511" cy="594360"/>
          </a:xfrm>
          <a:prstGeom prst="rect">
            <a:avLst/>
          </a:prstGeom>
          <a:noFill/>
        </p:spPr>
        <p:txBody>
          <a:bodyPr wrap="square" lIns="13716" rIns="13716" tIns="13716" bIns="13716">
            <a:spAutoFit/>
          </a:bodyPr>
          <a:lstStyle/>
          <a:p>
            <a:pPr>
              <a:lnSpc>
                <a:spcPct val="122000"/>
              </a:lnSpc>
              <a:spcAft>
                <a:spcPts val="800"/>
              </a:spcAft>
              <a:defRPr sz="1800" b="1">
                <a:solidFill>
                  <a:srgbClr val="242A30"/>
                </a:solidFill>
                <a:latin typeface="Noto Sans CJK SC"/>
              </a:defRPr>
            </a:pPr>
            <a:r>
              <a:t>东北</a:t>
            </a:r>
          </a:p>
        </p:txBody>
      </p:sp>
      <p:sp>
        <p:nvSpPr>
          <p:cNvPr id="16" name="Rectangle 15"/>
          <p:cNvSpPr/>
          <p:nvPr/>
        </p:nvSpPr>
        <p:spPr>
          <a:xfrm>
            <a:off x="2770632" y="2679191"/>
            <a:ext cx="4014215"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16936" y="2798063"/>
            <a:ext cx="3739896" cy="5943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殖民扩张与伪政权控制</a:t>
            </a:r>
          </a:p>
        </p:txBody>
      </p:sp>
      <p:sp>
        <p:nvSpPr>
          <p:cNvPr id="18" name="Rectangle 17"/>
          <p:cNvSpPr/>
          <p:nvPr/>
        </p:nvSpPr>
        <p:spPr>
          <a:xfrm>
            <a:off x="6830568" y="2679191"/>
            <a:ext cx="4718304"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76872" y="2798063"/>
            <a:ext cx="4443984" cy="5943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资源、行政与文化控制的结合</a:t>
            </a:r>
          </a:p>
        </p:txBody>
      </p:sp>
      <p:sp>
        <p:nvSpPr>
          <p:cNvPr id="20" name="Rectangle 19"/>
          <p:cNvSpPr/>
          <p:nvPr/>
        </p:nvSpPr>
        <p:spPr>
          <a:xfrm>
            <a:off x="640080" y="3483863"/>
            <a:ext cx="2084831" cy="749808"/>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3602735"/>
            <a:ext cx="1810511" cy="594360"/>
          </a:xfrm>
          <a:prstGeom prst="rect">
            <a:avLst/>
          </a:prstGeom>
          <a:noFill/>
        </p:spPr>
        <p:txBody>
          <a:bodyPr wrap="square" lIns="13716" rIns="13716" tIns="13716" bIns="13716">
            <a:spAutoFit/>
          </a:bodyPr>
          <a:lstStyle/>
          <a:p>
            <a:pPr>
              <a:lnSpc>
                <a:spcPct val="122000"/>
              </a:lnSpc>
              <a:spcAft>
                <a:spcPts val="800"/>
              </a:spcAft>
              <a:defRPr sz="1800" b="1">
                <a:solidFill>
                  <a:srgbClr val="242A30"/>
                </a:solidFill>
                <a:latin typeface="Noto Sans CJK SC"/>
              </a:defRPr>
            </a:pPr>
            <a:r>
              <a:t>内蒙古</a:t>
            </a:r>
          </a:p>
        </p:txBody>
      </p:sp>
      <p:sp>
        <p:nvSpPr>
          <p:cNvPr id="22" name="Rectangle 21"/>
          <p:cNvSpPr/>
          <p:nvPr/>
        </p:nvSpPr>
        <p:spPr>
          <a:xfrm>
            <a:off x="2770632" y="3483863"/>
            <a:ext cx="4014215" cy="749808"/>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16936" y="3602735"/>
            <a:ext cx="3739896" cy="5943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侵略势力操纵地方政治</a:t>
            </a:r>
          </a:p>
        </p:txBody>
      </p:sp>
      <p:sp>
        <p:nvSpPr>
          <p:cNvPr id="24" name="Rectangle 23"/>
          <p:cNvSpPr/>
          <p:nvPr/>
        </p:nvSpPr>
        <p:spPr>
          <a:xfrm>
            <a:off x="6830568" y="3483863"/>
            <a:ext cx="4718304" cy="749808"/>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76872" y="3602735"/>
            <a:ext cx="4443984" cy="5943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地方诉求与外部利用的区分</a:t>
            </a:r>
          </a:p>
        </p:txBody>
      </p:sp>
      <p:sp>
        <p:nvSpPr>
          <p:cNvPr id="26" name="Rectangle 25"/>
          <p:cNvSpPr/>
          <p:nvPr/>
        </p:nvSpPr>
        <p:spPr>
          <a:xfrm>
            <a:off x="640080" y="4288536"/>
            <a:ext cx="2084831"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407407"/>
            <a:ext cx="1810511" cy="594360"/>
          </a:xfrm>
          <a:prstGeom prst="rect">
            <a:avLst/>
          </a:prstGeom>
          <a:noFill/>
        </p:spPr>
        <p:txBody>
          <a:bodyPr wrap="square" lIns="13716" rIns="13716" tIns="13716" bIns="13716">
            <a:spAutoFit/>
          </a:bodyPr>
          <a:lstStyle/>
          <a:p>
            <a:pPr>
              <a:lnSpc>
                <a:spcPct val="122000"/>
              </a:lnSpc>
              <a:spcAft>
                <a:spcPts val="800"/>
              </a:spcAft>
              <a:defRPr sz="1800" b="1">
                <a:solidFill>
                  <a:srgbClr val="242A30"/>
                </a:solidFill>
                <a:latin typeface="Noto Sans CJK SC"/>
              </a:defRPr>
            </a:pPr>
            <a:r>
              <a:t>新疆</a:t>
            </a:r>
          </a:p>
        </p:txBody>
      </p:sp>
      <p:sp>
        <p:nvSpPr>
          <p:cNvPr id="28" name="Rectangle 27"/>
          <p:cNvSpPr/>
          <p:nvPr/>
        </p:nvSpPr>
        <p:spPr>
          <a:xfrm>
            <a:off x="2770632" y="4288536"/>
            <a:ext cx="4014215"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16936" y="4407407"/>
            <a:ext cx="3739896" cy="5943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地方统治与内外矛盾交织</a:t>
            </a:r>
          </a:p>
        </p:txBody>
      </p:sp>
      <p:sp>
        <p:nvSpPr>
          <p:cNvPr id="30" name="Rectangle 29"/>
          <p:cNvSpPr/>
          <p:nvPr/>
        </p:nvSpPr>
        <p:spPr>
          <a:xfrm>
            <a:off x="6830568" y="4288536"/>
            <a:ext cx="4718304"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76872" y="4407407"/>
            <a:ext cx="4443984" cy="5943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政策变化如何影响社会关系</a:t>
            </a:r>
          </a:p>
        </p:txBody>
      </p:sp>
      <p:sp>
        <p:nvSpPr>
          <p:cNvPr id="32" name="Rectangle 31"/>
          <p:cNvSpPr/>
          <p:nvPr/>
        </p:nvSpPr>
        <p:spPr>
          <a:xfrm>
            <a:off x="640080" y="5093208"/>
            <a:ext cx="2084831" cy="749808"/>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 y="5212080"/>
            <a:ext cx="1810511" cy="594360"/>
          </a:xfrm>
          <a:prstGeom prst="rect">
            <a:avLst/>
          </a:prstGeom>
          <a:noFill/>
        </p:spPr>
        <p:txBody>
          <a:bodyPr wrap="square" lIns="13716" rIns="13716" tIns="13716" bIns="13716">
            <a:spAutoFit/>
          </a:bodyPr>
          <a:lstStyle/>
          <a:p>
            <a:pPr>
              <a:lnSpc>
                <a:spcPct val="122000"/>
              </a:lnSpc>
              <a:spcAft>
                <a:spcPts val="800"/>
              </a:spcAft>
              <a:defRPr sz="1800" b="1">
                <a:solidFill>
                  <a:srgbClr val="242A30"/>
                </a:solidFill>
                <a:latin typeface="Noto Sans CJK SC"/>
              </a:defRPr>
            </a:pPr>
            <a:r>
              <a:t>西藏、西康及云南边境</a:t>
            </a:r>
          </a:p>
        </p:txBody>
      </p:sp>
      <p:sp>
        <p:nvSpPr>
          <p:cNvPr id="34" name="Rectangle 33"/>
          <p:cNvSpPr/>
          <p:nvPr/>
        </p:nvSpPr>
        <p:spPr>
          <a:xfrm>
            <a:off x="2770632" y="5093208"/>
            <a:ext cx="4014215" cy="749808"/>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16936" y="5212080"/>
            <a:ext cx="3739896" cy="5943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外部干预与边界压力</a:t>
            </a:r>
          </a:p>
        </p:txBody>
      </p:sp>
      <p:sp>
        <p:nvSpPr>
          <p:cNvPr id="36" name="Rectangle 35"/>
          <p:cNvSpPr/>
          <p:nvPr/>
        </p:nvSpPr>
        <p:spPr>
          <a:xfrm>
            <a:off x="6830568" y="5093208"/>
            <a:ext cx="4718304" cy="749808"/>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76872" y="5212080"/>
            <a:ext cx="4443984" cy="5943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行政回应及地方民众行动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中国民族关系史 · 专题研读</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15 / 32</a:t>
            </a:r>
          </a:p>
        </p:txBody>
      </p:sp>
      <p:sp>
        <p:nvSpPr>
          <p:cNvPr id="8" name="Rectangle 7"/>
          <p:cNvSpPr/>
          <p:nvPr/>
        </p:nvSpPr>
        <p:spPr>
          <a:xfrm>
            <a:off x="640080" y="1572768"/>
            <a:ext cx="91440" cy="4151376"/>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91640"/>
            <a:ext cx="3657600" cy="1371600"/>
          </a:xfrm>
          <a:prstGeom prst="rect">
            <a:avLst/>
          </a:prstGeom>
          <a:noFill/>
        </p:spPr>
        <p:txBody>
          <a:bodyPr wrap="square" lIns="13716" rIns="13716" tIns="13716" bIns="13716">
            <a:spAutoFit/>
          </a:bodyPr>
          <a:lstStyle/>
          <a:p>
            <a:pPr>
              <a:lnSpc>
                <a:spcPct val="122000"/>
              </a:lnSpc>
              <a:spcAft>
                <a:spcPts val="800"/>
              </a:spcAft>
              <a:defRPr sz="6400" b="1">
                <a:solidFill>
                  <a:srgbClr val="8F2438"/>
                </a:solidFill>
                <a:latin typeface="Noto Sans CJK SC"/>
              </a:defRPr>
            </a:pPr>
            <a:r>
              <a:t>02</a:t>
            </a:r>
          </a:p>
        </p:txBody>
      </p:sp>
      <p:sp>
        <p:nvSpPr>
          <p:cNvPr id="10" name="TextBox 9"/>
          <p:cNvSpPr txBox="1"/>
          <p:nvPr/>
        </p:nvSpPr>
        <p:spPr>
          <a:xfrm>
            <a:off x="987552" y="3017520"/>
            <a:ext cx="7223760" cy="914400"/>
          </a:xfrm>
          <a:prstGeom prst="rect">
            <a:avLst/>
          </a:prstGeom>
          <a:noFill/>
        </p:spPr>
        <p:txBody>
          <a:bodyPr wrap="square" lIns="13716" rIns="13716" tIns="13716" bIns="13716">
            <a:spAutoFit/>
          </a:bodyPr>
          <a:lstStyle/>
          <a:p>
            <a:pPr>
              <a:lnSpc>
                <a:spcPct val="122000"/>
              </a:lnSpc>
              <a:spcAft>
                <a:spcPts val="800"/>
              </a:spcAft>
              <a:defRPr sz="3800" b="1">
                <a:solidFill>
                  <a:srgbClr val="242A30"/>
                </a:solidFill>
                <a:latin typeface="Noto Sans CJK SC"/>
              </a:defRPr>
            </a:pPr>
            <a:r>
              <a:t>边政研究</a:t>
            </a:r>
          </a:p>
        </p:txBody>
      </p:sp>
      <p:sp>
        <p:nvSpPr>
          <p:cNvPr id="11" name="TextBox 10"/>
          <p:cNvSpPr txBox="1"/>
          <p:nvPr/>
        </p:nvSpPr>
        <p:spPr>
          <a:xfrm>
            <a:off x="1005840" y="4206240"/>
            <a:ext cx="6492240" cy="1097280"/>
          </a:xfrm>
          <a:prstGeom prst="rect">
            <a:avLst/>
          </a:prstGeom>
          <a:noFill/>
        </p:spPr>
        <p:txBody>
          <a:bodyPr wrap="square" lIns="13716" rIns="13716" tIns="13716" bIns="13716">
            <a:spAutoFit/>
          </a:bodyPr>
          <a:lstStyle/>
          <a:p>
            <a:pPr>
              <a:lnSpc>
                <a:spcPct val="122000"/>
              </a:lnSpc>
              <a:spcAft>
                <a:spcPts val="800"/>
              </a:spcAft>
              <a:defRPr sz="2300" b="0">
                <a:solidFill>
                  <a:srgbClr val="687078"/>
                </a:solidFill>
                <a:latin typeface="Noto Sans CJK SC"/>
              </a:defRPr>
            </a:pPr>
            <a:r>
              <a:t>国家如何认识边疆，并形成治理知识？</a:t>
            </a:r>
          </a:p>
        </p:txBody>
      </p:sp>
      <p:sp>
        <p:nvSpPr>
          <p:cNvPr id="12" name="Rectangle 11"/>
          <p:cNvSpPr/>
          <p:nvPr/>
        </p:nvSpPr>
        <p:spPr>
          <a:xfrm>
            <a:off x="7763256" y="1865376"/>
            <a:ext cx="3813048" cy="3493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15-0.jpg"/>
          <p:cNvPicPr>
            <a:picLocks noChangeAspect="1"/>
          </p:cNvPicPr>
          <p:nvPr/>
        </p:nvPicPr>
        <p:blipFill>
          <a:blip r:embed="rId2"/>
          <a:stretch>
            <a:fillRect/>
          </a:stretch>
        </p:blipFill>
        <p:spPr>
          <a:xfrm>
            <a:off x="7818120" y="2383850"/>
            <a:ext cx="3703320" cy="2456059"/>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02  边政研究</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蒙藏委员会与边政机构</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16 / 32</a:t>
            </a:r>
          </a:p>
        </p:txBody>
      </p:sp>
      <p:sp>
        <p:nvSpPr>
          <p:cNvPr id="8" name="Rectangle 7"/>
          <p:cNvSpPr/>
          <p:nvPr/>
        </p:nvSpPr>
        <p:spPr>
          <a:xfrm>
            <a:off x="64008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机构沿革</a:t>
            </a:r>
          </a:p>
        </p:txBody>
      </p:sp>
      <p:sp>
        <p:nvSpPr>
          <p:cNvPr id="11" name="TextBox 10"/>
          <p:cNvSpPr txBox="1"/>
          <p:nvPr/>
        </p:nvSpPr>
        <p:spPr>
          <a:xfrm>
            <a:off x="841247"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从民国初年的蒙藏事务局，到1914年的蒙藏院，再到南京国民政府时期的蒙藏委员会，机构更替体现中央处理蒙藏事务方式的调整。</a:t>
            </a:r>
          </a:p>
        </p:txBody>
      </p:sp>
      <p:sp>
        <p:nvSpPr>
          <p:cNvPr id="12" name="Rectangle 11"/>
          <p:cNvSpPr/>
          <p:nvPr/>
        </p:nvSpPr>
        <p:spPr>
          <a:xfrm>
            <a:off x="434340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内部与附属机构</a:t>
            </a:r>
          </a:p>
        </p:txBody>
      </p:sp>
      <p:sp>
        <p:nvSpPr>
          <p:cNvPr id="15" name="TextBox 14"/>
          <p:cNvSpPr txBox="1"/>
          <p:nvPr/>
        </p:nvSpPr>
        <p:spPr>
          <a:xfrm>
            <a:off x="454456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蒙藏委员会设内务、蒙事、藏事等处，并设翻译、调查及政教制度研究机构；附属单位还包括月报社、通讯社、招待所和有关学校。</a:t>
            </a:r>
          </a:p>
        </p:txBody>
      </p:sp>
      <p:sp>
        <p:nvSpPr>
          <p:cNvPr id="16" name="Rectangle 15"/>
          <p:cNvSpPr/>
          <p:nvPr/>
        </p:nvSpPr>
        <p:spPr>
          <a:xfrm>
            <a:off x="8046719"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职掌与部门分工</a:t>
            </a:r>
          </a:p>
        </p:txBody>
      </p:sp>
      <p:sp>
        <p:nvSpPr>
          <p:cNvPr id="19" name="TextBox 18"/>
          <p:cNvSpPr txBox="1"/>
          <p:nvPr/>
        </p:nvSpPr>
        <p:spPr>
          <a:xfrm>
            <a:off x="824788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委员会主要处理行政与政策事务。相关教育、组织和军事工作又涉及其他部门，边政运行呈现跨机构分工的特点。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02  边政研究</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边政知识如何形成</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17 / 32</a:t>
            </a:r>
          </a:p>
        </p:txBody>
      </p:sp>
      <p:sp>
        <p:nvSpPr>
          <p:cNvPr id="8" name="Rectangle 7"/>
          <p:cNvSpPr/>
          <p:nvPr/>
        </p:nvSpPr>
        <p:spPr>
          <a:xfrm>
            <a:off x="640080" y="2011680"/>
            <a:ext cx="2569464" cy="37490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212848"/>
            <a:ext cx="2194560" cy="731520"/>
          </a:xfrm>
          <a:prstGeom prst="rect">
            <a:avLst/>
          </a:prstGeom>
          <a:noFill/>
        </p:spPr>
        <p:txBody>
          <a:bodyPr wrap="square" lIns="13716" rIns="13716" tIns="13716" bIns="13716">
            <a:spAutoFit/>
          </a:bodyPr>
          <a:lstStyle/>
          <a:p>
            <a:pPr>
              <a:lnSpc>
                <a:spcPct val="122000"/>
              </a:lnSpc>
              <a:spcAft>
                <a:spcPts val="800"/>
              </a:spcAft>
              <a:defRPr sz="3800" b="1">
                <a:solidFill>
                  <a:srgbClr val="8F2438"/>
                </a:solidFill>
                <a:latin typeface="Noto Sans CJK SC"/>
              </a:defRPr>
            </a:pPr>
            <a:r>
              <a:t>01</a:t>
            </a:r>
          </a:p>
        </p:txBody>
      </p:sp>
      <p:sp>
        <p:nvSpPr>
          <p:cNvPr id="10" name="TextBox 9"/>
          <p:cNvSpPr txBox="1"/>
          <p:nvPr/>
        </p:nvSpPr>
        <p:spPr>
          <a:xfrm>
            <a:off x="822959" y="3127248"/>
            <a:ext cx="2194560" cy="548640"/>
          </a:xfrm>
          <a:prstGeom prst="rect">
            <a:avLst/>
          </a:prstGeom>
          <a:noFill/>
        </p:spPr>
        <p:txBody>
          <a:bodyPr wrap="square" lIns="13716" rIns="13716" tIns="13716" bIns="13716">
            <a:spAutoFit/>
          </a:bodyPr>
          <a:lstStyle/>
          <a:p>
            <a:pPr>
              <a:lnSpc>
                <a:spcPct val="122000"/>
              </a:lnSpc>
              <a:spcAft>
                <a:spcPts val="800"/>
              </a:spcAft>
              <a:defRPr sz="2500" b="1">
                <a:solidFill>
                  <a:srgbClr val="242A30"/>
                </a:solidFill>
                <a:latin typeface="Noto Sans CJK SC"/>
              </a:defRPr>
            </a:pPr>
            <a:r>
              <a:t>调查</a:t>
            </a:r>
          </a:p>
        </p:txBody>
      </p:sp>
      <p:sp>
        <p:nvSpPr>
          <p:cNvPr id="11" name="TextBox 10"/>
          <p:cNvSpPr txBox="1"/>
          <p:nvPr/>
        </p:nvSpPr>
        <p:spPr>
          <a:xfrm>
            <a:off x="822959" y="3886200"/>
            <a:ext cx="2194560" cy="1691640"/>
          </a:xfrm>
          <a:prstGeom prst="rect">
            <a:avLst/>
          </a:prstGeom>
          <a:noFill/>
        </p:spPr>
        <p:txBody>
          <a:bodyPr wrap="square" lIns="13716" rIns="13716" tIns="13716" bIns="13716">
            <a:spAutoFit/>
          </a:bodyPr>
          <a:lstStyle/>
          <a:p>
            <a:pPr>
              <a:lnSpc>
                <a:spcPct val="122000"/>
              </a:lnSpc>
              <a:spcAft>
                <a:spcPts val="800"/>
              </a:spcAft>
              <a:defRPr sz="2000" b="0">
                <a:solidFill>
                  <a:srgbClr val="242A30"/>
                </a:solidFill>
                <a:latin typeface="Noto Sans CJK SC"/>
              </a:defRPr>
            </a:pPr>
            <a:r>
              <a:t>覆盖政治、经济、宗教、语言、矿产及社会制度等领域。</a:t>
            </a:r>
          </a:p>
        </p:txBody>
      </p:sp>
      <p:sp>
        <p:nvSpPr>
          <p:cNvPr id="12" name="Rectangle 11"/>
          <p:cNvSpPr/>
          <p:nvPr/>
        </p:nvSpPr>
        <p:spPr>
          <a:xfrm>
            <a:off x="3419856" y="2011680"/>
            <a:ext cx="2569464" cy="37490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2736" y="2212848"/>
            <a:ext cx="2194560" cy="731520"/>
          </a:xfrm>
          <a:prstGeom prst="rect">
            <a:avLst/>
          </a:prstGeom>
          <a:noFill/>
        </p:spPr>
        <p:txBody>
          <a:bodyPr wrap="square" lIns="13716" rIns="13716" tIns="13716" bIns="13716">
            <a:spAutoFit/>
          </a:bodyPr>
          <a:lstStyle/>
          <a:p>
            <a:pPr>
              <a:lnSpc>
                <a:spcPct val="122000"/>
              </a:lnSpc>
              <a:spcAft>
                <a:spcPts val="800"/>
              </a:spcAft>
              <a:defRPr sz="3800" b="1">
                <a:solidFill>
                  <a:srgbClr val="8F2438"/>
                </a:solidFill>
                <a:latin typeface="Noto Sans CJK SC"/>
              </a:defRPr>
            </a:pPr>
            <a:r>
              <a:t>02</a:t>
            </a:r>
          </a:p>
        </p:txBody>
      </p:sp>
      <p:sp>
        <p:nvSpPr>
          <p:cNvPr id="14" name="TextBox 13"/>
          <p:cNvSpPr txBox="1"/>
          <p:nvPr/>
        </p:nvSpPr>
        <p:spPr>
          <a:xfrm>
            <a:off x="3602736" y="3127248"/>
            <a:ext cx="2194560" cy="548640"/>
          </a:xfrm>
          <a:prstGeom prst="rect">
            <a:avLst/>
          </a:prstGeom>
          <a:noFill/>
        </p:spPr>
        <p:txBody>
          <a:bodyPr wrap="square" lIns="13716" rIns="13716" tIns="13716" bIns="13716">
            <a:spAutoFit/>
          </a:bodyPr>
          <a:lstStyle/>
          <a:p>
            <a:pPr>
              <a:lnSpc>
                <a:spcPct val="122000"/>
              </a:lnSpc>
              <a:spcAft>
                <a:spcPts val="800"/>
              </a:spcAft>
              <a:defRPr sz="2500" b="1">
                <a:solidFill>
                  <a:srgbClr val="242A30"/>
                </a:solidFill>
                <a:latin typeface="Noto Sans CJK SC"/>
              </a:defRPr>
            </a:pPr>
            <a:r>
              <a:t>组织</a:t>
            </a:r>
          </a:p>
        </p:txBody>
      </p:sp>
      <p:sp>
        <p:nvSpPr>
          <p:cNvPr id="15" name="TextBox 14"/>
          <p:cNvSpPr txBox="1"/>
          <p:nvPr/>
        </p:nvSpPr>
        <p:spPr>
          <a:xfrm>
            <a:off x="3602736" y="3886200"/>
            <a:ext cx="2194560" cy="1691640"/>
          </a:xfrm>
          <a:prstGeom prst="rect">
            <a:avLst/>
          </a:prstGeom>
          <a:noFill/>
        </p:spPr>
        <p:txBody>
          <a:bodyPr wrap="square" lIns="13716" rIns="13716" tIns="13716" bIns="13716">
            <a:spAutoFit/>
          </a:bodyPr>
          <a:lstStyle/>
          <a:p>
            <a:pPr>
              <a:lnSpc>
                <a:spcPct val="122000"/>
              </a:lnSpc>
              <a:spcAft>
                <a:spcPts val="800"/>
              </a:spcAft>
              <a:defRPr sz="2000" b="0">
                <a:solidFill>
                  <a:srgbClr val="242A30"/>
                </a:solidFill>
                <a:latin typeface="Noto Sans CJK SC"/>
              </a:defRPr>
            </a:pPr>
            <a:r>
              <a:t>蒙藏委员会、有关部委与学术团体共同组织研究。</a:t>
            </a:r>
          </a:p>
        </p:txBody>
      </p:sp>
      <p:sp>
        <p:nvSpPr>
          <p:cNvPr id="16" name="Rectangle 15"/>
          <p:cNvSpPr/>
          <p:nvPr/>
        </p:nvSpPr>
        <p:spPr>
          <a:xfrm>
            <a:off x="6199632" y="2011680"/>
            <a:ext cx="2569464" cy="37490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212848"/>
            <a:ext cx="2194560" cy="731520"/>
          </a:xfrm>
          <a:prstGeom prst="rect">
            <a:avLst/>
          </a:prstGeom>
          <a:noFill/>
        </p:spPr>
        <p:txBody>
          <a:bodyPr wrap="square" lIns="13716" rIns="13716" tIns="13716" bIns="13716">
            <a:spAutoFit/>
          </a:bodyPr>
          <a:lstStyle/>
          <a:p>
            <a:pPr>
              <a:lnSpc>
                <a:spcPct val="122000"/>
              </a:lnSpc>
              <a:spcAft>
                <a:spcPts val="800"/>
              </a:spcAft>
              <a:defRPr sz="3800" b="1">
                <a:solidFill>
                  <a:srgbClr val="8F2438"/>
                </a:solidFill>
                <a:latin typeface="Noto Sans CJK SC"/>
              </a:defRPr>
            </a:pPr>
            <a:r>
              <a:t>03</a:t>
            </a:r>
          </a:p>
        </p:txBody>
      </p:sp>
      <p:sp>
        <p:nvSpPr>
          <p:cNvPr id="18" name="TextBox 17"/>
          <p:cNvSpPr txBox="1"/>
          <p:nvPr/>
        </p:nvSpPr>
        <p:spPr>
          <a:xfrm>
            <a:off x="6382512" y="3127248"/>
            <a:ext cx="2194560" cy="548640"/>
          </a:xfrm>
          <a:prstGeom prst="rect">
            <a:avLst/>
          </a:prstGeom>
          <a:noFill/>
        </p:spPr>
        <p:txBody>
          <a:bodyPr wrap="square" lIns="13716" rIns="13716" tIns="13716" bIns="13716">
            <a:spAutoFit/>
          </a:bodyPr>
          <a:lstStyle/>
          <a:p>
            <a:pPr>
              <a:lnSpc>
                <a:spcPct val="122000"/>
              </a:lnSpc>
              <a:spcAft>
                <a:spcPts val="800"/>
              </a:spcAft>
              <a:defRPr sz="2500" b="1">
                <a:solidFill>
                  <a:srgbClr val="242A30"/>
                </a:solidFill>
                <a:latin typeface="Noto Sans CJK SC"/>
              </a:defRPr>
            </a:pPr>
            <a:r>
              <a:t>传播</a:t>
            </a:r>
          </a:p>
        </p:txBody>
      </p:sp>
      <p:sp>
        <p:nvSpPr>
          <p:cNvPr id="19" name="TextBox 18"/>
          <p:cNvSpPr txBox="1"/>
          <p:nvPr/>
        </p:nvSpPr>
        <p:spPr>
          <a:xfrm>
            <a:off x="6382512" y="3886200"/>
            <a:ext cx="2194560" cy="1691640"/>
          </a:xfrm>
          <a:prstGeom prst="rect">
            <a:avLst/>
          </a:prstGeom>
          <a:noFill/>
        </p:spPr>
        <p:txBody>
          <a:bodyPr wrap="square" lIns="13716" rIns="13716" tIns="13716" bIns="13716">
            <a:spAutoFit/>
          </a:bodyPr>
          <a:lstStyle/>
          <a:p>
            <a:pPr>
              <a:lnSpc>
                <a:spcPct val="122000"/>
              </a:lnSpc>
              <a:spcAft>
                <a:spcPts val="800"/>
              </a:spcAft>
              <a:defRPr sz="2000" b="0">
                <a:solidFill>
                  <a:srgbClr val="242A30"/>
                </a:solidFill>
                <a:latin typeface="Noto Sans CJK SC"/>
              </a:defRPr>
            </a:pPr>
            <a:r>
              <a:t>专著、调查资料与期刊扩大边疆研究的公共影响。</a:t>
            </a:r>
          </a:p>
        </p:txBody>
      </p:sp>
      <p:sp>
        <p:nvSpPr>
          <p:cNvPr id="20" name="Rectangle 19"/>
          <p:cNvSpPr/>
          <p:nvPr/>
        </p:nvSpPr>
        <p:spPr>
          <a:xfrm>
            <a:off x="8979408" y="2011680"/>
            <a:ext cx="2569464" cy="37490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62288" y="2212848"/>
            <a:ext cx="2194560" cy="731520"/>
          </a:xfrm>
          <a:prstGeom prst="rect">
            <a:avLst/>
          </a:prstGeom>
          <a:noFill/>
        </p:spPr>
        <p:txBody>
          <a:bodyPr wrap="square" lIns="13716" rIns="13716" tIns="13716" bIns="13716">
            <a:spAutoFit/>
          </a:bodyPr>
          <a:lstStyle/>
          <a:p>
            <a:pPr>
              <a:lnSpc>
                <a:spcPct val="122000"/>
              </a:lnSpc>
              <a:spcAft>
                <a:spcPts val="800"/>
              </a:spcAft>
              <a:defRPr sz="3800" b="1">
                <a:solidFill>
                  <a:srgbClr val="8F2438"/>
                </a:solidFill>
                <a:latin typeface="Noto Sans CJK SC"/>
              </a:defRPr>
            </a:pPr>
            <a:r>
              <a:t>04</a:t>
            </a:r>
          </a:p>
        </p:txBody>
      </p:sp>
      <p:sp>
        <p:nvSpPr>
          <p:cNvPr id="22" name="TextBox 21"/>
          <p:cNvSpPr txBox="1"/>
          <p:nvPr/>
        </p:nvSpPr>
        <p:spPr>
          <a:xfrm>
            <a:off x="9162288" y="3127248"/>
            <a:ext cx="2194560" cy="548640"/>
          </a:xfrm>
          <a:prstGeom prst="rect">
            <a:avLst/>
          </a:prstGeom>
          <a:noFill/>
        </p:spPr>
        <p:txBody>
          <a:bodyPr wrap="square" lIns="13716" rIns="13716" tIns="13716" bIns="13716">
            <a:spAutoFit/>
          </a:bodyPr>
          <a:lstStyle/>
          <a:p>
            <a:pPr>
              <a:lnSpc>
                <a:spcPct val="122000"/>
              </a:lnSpc>
              <a:spcAft>
                <a:spcPts val="800"/>
              </a:spcAft>
              <a:defRPr sz="2500" b="1">
                <a:solidFill>
                  <a:srgbClr val="242A30"/>
                </a:solidFill>
                <a:latin typeface="Noto Sans CJK SC"/>
              </a:defRPr>
            </a:pPr>
            <a:r>
              <a:t>应用</a:t>
            </a:r>
          </a:p>
        </p:txBody>
      </p:sp>
      <p:sp>
        <p:nvSpPr>
          <p:cNvPr id="23" name="TextBox 22"/>
          <p:cNvSpPr txBox="1"/>
          <p:nvPr/>
        </p:nvSpPr>
        <p:spPr>
          <a:xfrm>
            <a:off x="9162288" y="3886200"/>
            <a:ext cx="2194560" cy="1691640"/>
          </a:xfrm>
          <a:prstGeom prst="rect">
            <a:avLst/>
          </a:prstGeom>
          <a:noFill/>
        </p:spPr>
        <p:txBody>
          <a:bodyPr wrap="square" lIns="13716" rIns="13716" tIns="13716" bIns="13716">
            <a:spAutoFit/>
          </a:bodyPr>
          <a:lstStyle/>
          <a:p>
            <a:pPr>
              <a:lnSpc>
                <a:spcPct val="122000"/>
              </a:lnSpc>
              <a:spcAft>
                <a:spcPts val="800"/>
              </a:spcAft>
              <a:defRPr sz="2000" b="0">
                <a:solidFill>
                  <a:srgbClr val="242A30"/>
                </a:solidFill>
                <a:latin typeface="Noto Sans CJK SC"/>
              </a:defRPr>
            </a:pPr>
            <a:r>
              <a:t>为交通、教育、行政与资源开发提供知识依据。</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02  边政研究</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边疆观念的转变</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18 / 32</a:t>
            </a:r>
          </a:p>
        </p:txBody>
      </p:sp>
      <p:sp>
        <p:nvSpPr>
          <p:cNvPr id="8" name="Rectangle 7"/>
          <p:cNvSpPr/>
          <p:nvPr/>
        </p:nvSpPr>
        <p:spPr>
          <a:xfrm>
            <a:off x="640080" y="1874519"/>
            <a:ext cx="10908792" cy="1847088"/>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13432"/>
            <a:ext cx="10241280" cy="960120"/>
          </a:xfrm>
          <a:prstGeom prst="rect">
            <a:avLst/>
          </a:prstGeom>
          <a:noFill/>
        </p:spPr>
        <p:txBody>
          <a:bodyPr wrap="square" lIns="13716" rIns="13716" tIns="13716" bIns="13716">
            <a:spAutoFit/>
          </a:bodyPr>
          <a:lstStyle/>
          <a:p>
            <a:pPr>
              <a:lnSpc>
                <a:spcPct val="122000"/>
              </a:lnSpc>
              <a:spcAft>
                <a:spcPts val="800"/>
              </a:spcAft>
              <a:defRPr sz="3100" b="1">
                <a:solidFill>
                  <a:srgbClr val="8F2438"/>
                </a:solidFill>
                <a:latin typeface="Noto Sans CJK SC"/>
              </a:defRPr>
            </a:pPr>
            <a:r>
              <a:t>“我们的边疆，是我国土地的一部分”</a:t>
            </a:r>
          </a:p>
        </p:txBody>
      </p:sp>
      <p:sp>
        <p:nvSpPr>
          <p:cNvPr id="10" name="TextBox 9"/>
          <p:cNvSpPr txBox="1"/>
          <p:nvPr/>
        </p:nvSpPr>
        <p:spPr>
          <a:xfrm>
            <a:off x="868680" y="4050791"/>
            <a:ext cx="10332720" cy="777240"/>
          </a:xfrm>
          <a:prstGeom prst="rect">
            <a:avLst/>
          </a:prstGeom>
          <a:noFill/>
        </p:spPr>
        <p:txBody>
          <a:bodyPr wrap="square" lIns="13716" rIns="13716" tIns="13716" bIns="13716">
            <a:spAutoFit/>
          </a:bodyPr>
          <a:lstStyle/>
          <a:p>
            <a:pPr>
              <a:lnSpc>
                <a:spcPct val="122000"/>
              </a:lnSpc>
              <a:spcAft>
                <a:spcPts val="800"/>
              </a:spcAft>
              <a:defRPr sz="2400" b="1">
                <a:solidFill>
                  <a:srgbClr val="242A30"/>
                </a:solidFill>
                <a:latin typeface="Noto Sans CJK SC"/>
              </a:defRPr>
            </a:pPr>
            <a:r>
              <a:t>将边疆民众视为国家共同体的成员，反对把边疆简单看作荒僻落后之地。</a:t>
            </a:r>
          </a:p>
        </p:txBody>
      </p:sp>
      <p:sp>
        <p:nvSpPr>
          <p:cNvPr id="11" name="TextBox 10"/>
          <p:cNvSpPr txBox="1"/>
          <p:nvPr/>
        </p:nvSpPr>
        <p:spPr>
          <a:xfrm>
            <a:off x="868680" y="4965192"/>
            <a:ext cx="10332720" cy="941832"/>
          </a:xfrm>
          <a:prstGeom prst="rect">
            <a:avLst/>
          </a:prstGeom>
          <a:noFill/>
        </p:spPr>
        <p:txBody>
          <a:bodyPr wrap="square" lIns="13716" rIns="13716" tIns="13716" bIns="13716">
            <a:spAutoFit/>
          </a:bodyPr>
          <a:lstStyle/>
          <a:p>
            <a:pPr>
              <a:lnSpc>
                <a:spcPct val="122000"/>
              </a:lnSpc>
              <a:spcAft>
                <a:spcPts val="800"/>
              </a:spcAft>
              <a:defRPr sz="2200" b="0">
                <a:solidFill>
                  <a:srgbClr val="242A30"/>
                </a:solidFill>
                <a:latin typeface="Noto Sans CJK SC"/>
              </a:defRPr>
            </a:pPr>
            <a:r>
              <a:t>边政研究的范围扩展到政治、经济、语言与社会生活，使民族平等和边疆建设逐渐成为公共讨论的一部分。</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02  边政研究</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边政研究的贡献与局限</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19 / 32</a:t>
            </a:r>
          </a:p>
        </p:txBody>
      </p:sp>
      <p:sp>
        <p:nvSpPr>
          <p:cNvPr id="8" name="Rectangle 7"/>
          <p:cNvSpPr/>
          <p:nvPr/>
        </p:nvSpPr>
        <p:spPr>
          <a:xfrm>
            <a:off x="640080" y="1947672"/>
            <a:ext cx="5353812" cy="36210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362102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4951475"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贡献：积累认识边疆的材料</a:t>
            </a:r>
          </a:p>
        </p:txBody>
      </p:sp>
      <p:sp>
        <p:nvSpPr>
          <p:cNvPr id="11" name="TextBox 10"/>
          <p:cNvSpPr txBox="1"/>
          <p:nvPr/>
        </p:nvSpPr>
        <p:spPr>
          <a:xfrm>
            <a:off x="841247" y="2843784"/>
            <a:ext cx="4951475" cy="2615184"/>
          </a:xfrm>
          <a:prstGeom prst="rect">
            <a:avLst/>
          </a:prstGeom>
          <a:noFill/>
        </p:spPr>
        <p:txBody>
          <a:bodyPr wrap="square" lIns="13716" rIns="13716" tIns="13716" bIns="13716">
            <a:spAutoFit/>
          </a:bodyPr>
          <a:lstStyle/>
          <a:p>
            <a:pPr>
              <a:lnSpc>
                <a:spcPct val="122000"/>
              </a:lnSpc>
              <a:spcAft>
                <a:spcPts val="800"/>
              </a:spcAft>
              <a:defRPr sz="2100" b="0">
                <a:solidFill>
                  <a:srgbClr val="242A30"/>
                </a:solidFill>
                <a:latin typeface="Noto Sans CJK SC"/>
              </a:defRPr>
            </a:pPr>
            <a:r>
              <a:t>原书指出，边政研究推动对政治、经济、语言、宗教和社会生活的调查，并反思将边疆视为荒蛮之地的旧观念，为认识边疆积累材料。</a:t>
            </a:r>
          </a:p>
        </p:txBody>
      </p:sp>
      <p:sp>
        <p:nvSpPr>
          <p:cNvPr id="12" name="Rectangle 11"/>
          <p:cNvSpPr/>
          <p:nvPr/>
        </p:nvSpPr>
        <p:spPr>
          <a:xfrm>
            <a:off x="6195059" y="1947672"/>
            <a:ext cx="5353812" cy="36210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5059" y="1947672"/>
            <a:ext cx="41148" cy="362102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7" y="2112264"/>
            <a:ext cx="4951475"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局限：关注知识生产的立场</a:t>
            </a:r>
          </a:p>
        </p:txBody>
      </p:sp>
      <p:sp>
        <p:nvSpPr>
          <p:cNvPr id="15" name="TextBox 14"/>
          <p:cNvSpPr txBox="1"/>
          <p:nvPr/>
        </p:nvSpPr>
        <p:spPr>
          <a:xfrm>
            <a:off x="6396227" y="2843784"/>
            <a:ext cx="4951475" cy="2615184"/>
          </a:xfrm>
          <a:prstGeom prst="rect">
            <a:avLst/>
          </a:prstGeom>
          <a:noFill/>
        </p:spPr>
        <p:txBody>
          <a:bodyPr wrap="square" lIns="13716" rIns="13716" tIns="13716" bIns="13716">
            <a:spAutoFit/>
          </a:bodyPr>
          <a:lstStyle/>
          <a:p>
            <a:pPr>
              <a:lnSpc>
                <a:spcPct val="122000"/>
              </a:lnSpc>
              <a:spcAft>
                <a:spcPts val="800"/>
              </a:spcAft>
              <a:defRPr sz="2100" b="0">
                <a:solidFill>
                  <a:srgbClr val="242A30"/>
                </a:solidFill>
                <a:latin typeface="Noto Sans CJK SC"/>
              </a:defRPr>
            </a:pPr>
            <a:r>
              <a:t>相关研究与当时的国家整合及政治目标密切相连。阅读时应辨析作者立场、调查范围和地方声音的呈现，避免将研究者判断等同于社会全貌。</a:t>
            </a:r>
          </a:p>
        </p:txBody>
      </p:sp>
      <p:sp>
        <p:nvSpPr>
          <p:cNvPr id="16" name="Rectangle 15"/>
          <p:cNvSpPr/>
          <p:nvPr/>
        </p:nvSpPr>
        <p:spPr>
          <a:xfrm>
            <a:off x="640080" y="5806440"/>
            <a:ext cx="10908792" cy="393192"/>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5856731"/>
            <a:ext cx="10561320" cy="301752"/>
          </a:xfrm>
          <a:prstGeom prst="rect">
            <a:avLst/>
          </a:prstGeom>
          <a:noFill/>
        </p:spPr>
        <p:txBody>
          <a:bodyPr wrap="square" lIns="13716" rIns="13716" tIns="13716" bIns="13716">
            <a:spAutoFit/>
          </a:bodyPr>
          <a:lstStyle/>
          <a:p>
            <a:pPr>
              <a:lnSpc>
                <a:spcPct val="122000"/>
              </a:lnSpc>
              <a:spcAft>
                <a:spcPts val="800"/>
              </a:spcAft>
              <a:defRPr sz="1400" b="0">
                <a:solidFill>
                  <a:srgbClr val="8F2438"/>
                </a:solidFill>
                <a:latin typeface="Noto Sans CJK SC"/>
              </a:defRPr>
            </a:pPr>
            <a:r>
              <a:t>研读边政文献，应同时考察知识内容、生产位置与政策用途。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中国民族关系史 · 专题研读</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20 / 32</a:t>
            </a:r>
          </a:p>
        </p:txBody>
      </p:sp>
      <p:sp>
        <p:nvSpPr>
          <p:cNvPr id="8" name="Rectangle 7"/>
          <p:cNvSpPr/>
          <p:nvPr/>
        </p:nvSpPr>
        <p:spPr>
          <a:xfrm>
            <a:off x="640080" y="1572768"/>
            <a:ext cx="91440" cy="4151376"/>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91640"/>
            <a:ext cx="3657600" cy="1371600"/>
          </a:xfrm>
          <a:prstGeom prst="rect">
            <a:avLst/>
          </a:prstGeom>
          <a:noFill/>
        </p:spPr>
        <p:txBody>
          <a:bodyPr wrap="square" lIns="13716" rIns="13716" tIns="13716" bIns="13716">
            <a:spAutoFit/>
          </a:bodyPr>
          <a:lstStyle/>
          <a:p>
            <a:pPr>
              <a:lnSpc>
                <a:spcPct val="122000"/>
              </a:lnSpc>
              <a:spcAft>
                <a:spcPts val="800"/>
              </a:spcAft>
              <a:defRPr sz="6400" b="1">
                <a:solidFill>
                  <a:srgbClr val="8F2438"/>
                </a:solidFill>
                <a:latin typeface="Noto Sans CJK SC"/>
              </a:defRPr>
            </a:pPr>
            <a:r>
              <a:t>03</a:t>
            </a:r>
          </a:p>
        </p:txBody>
      </p:sp>
      <p:sp>
        <p:nvSpPr>
          <p:cNvPr id="10" name="TextBox 9"/>
          <p:cNvSpPr txBox="1"/>
          <p:nvPr/>
        </p:nvSpPr>
        <p:spPr>
          <a:xfrm>
            <a:off x="987552" y="3017520"/>
            <a:ext cx="7223760" cy="914400"/>
          </a:xfrm>
          <a:prstGeom prst="rect">
            <a:avLst/>
          </a:prstGeom>
          <a:noFill/>
        </p:spPr>
        <p:txBody>
          <a:bodyPr wrap="square" lIns="13716" rIns="13716" tIns="13716" bIns="13716">
            <a:spAutoFit/>
          </a:bodyPr>
          <a:lstStyle/>
          <a:p>
            <a:pPr>
              <a:lnSpc>
                <a:spcPct val="122000"/>
              </a:lnSpc>
              <a:spcAft>
                <a:spcPts val="800"/>
              </a:spcAft>
              <a:defRPr sz="3800" b="1">
                <a:solidFill>
                  <a:srgbClr val="242A30"/>
                </a:solidFill>
                <a:latin typeface="Noto Sans CJK SC"/>
              </a:defRPr>
            </a:pPr>
            <a:r>
              <a:t>民族政策与实践</a:t>
            </a:r>
          </a:p>
        </p:txBody>
      </p:sp>
      <p:sp>
        <p:nvSpPr>
          <p:cNvPr id="11" name="TextBox 10"/>
          <p:cNvSpPr txBox="1"/>
          <p:nvPr/>
        </p:nvSpPr>
        <p:spPr>
          <a:xfrm>
            <a:off x="1005840" y="4206240"/>
            <a:ext cx="6492240" cy="1097280"/>
          </a:xfrm>
          <a:prstGeom prst="rect">
            <a:avLst/>
          </a:prstGeom>
          <a:noFill/>
        </p:spPr>
        <p:txBody>
          <a:bodyPr wrap="square" lIns="13716" rIns="13716" tIns="13716" bIns="13716">
            <a:spAutoFit/>
          </a:bodyPr>
          <a:lstStyle/>
          <a:p>
            <a:pPr>
              <a:lnSpc>
                <a:spcPct val="122000"/>
              </a:lnSpc>
              <a:spcAft>
                <a:spcPts val="800"/>
              </a:spcAft>
              <a:defRPr sz="2300" b="0">
                <a:solidFill>
                  <a:srgbClr val="687078"/>
                </a:solidFill>
                <a:latin typeface="Noto Sans CJK SC"/>
              </a:defRPr>
            </a:pPr>
            <a:r>
              <a:t>平等主张如何进入组织与制度？</a:t>
            </a:r>
          </a:p>
        </p:txBody>
      </p:sp>
      <p:sp>
        <p:nvSpPr>
          <p:cNvPr id="12" name="Rectangle 11"/>
          <p:cNvSpPr/>
          <p:nvPr/>
        </p:nvSpPr>
        <p:spPr>
          <a:xfrm>
            <a:off x="7763256" y="1865376"/>
            <a:ext cx="3813048" cy="3493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20-0.jpg"/>
          <p:cNvPicPr>
            <a:picLocks noChangeAspect="1"/>
          </p:cNvPicPr>
          <p:nvPr/>
        </p:nvPicPr>
        <p:blipFill>
          <a:blip r:embed="rId2"/>
          <a:stretch>
            <a:fillRect/>
          </a:stretch>
        </p:blipFill>
        <p:spPr>
          <a:xfrm>
            <a:off x="7818120" y="2227182"/>
            <a:ext cx="3703320" cy="2769395"/>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03  民族政策与实践</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早期民族政策的探索</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21 / 32</a:t>
            </a:r>
          </a:p>
        </p:txBody>
      </p:sp>
      <p:sp>
        <p:nvSpPr>
          <p:cNvPr id="8" name="Rectangle 7"/>
          <p:cNvSpPr/>
          <p:nvPr/>
        </p:nvSpPr>
        <p:spPr>
          <a:xfrm>
            <a:off x="64008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1922年的政策探索</a:t>
            </a:r>
          </a:p>
        </p:txBody>
      </p:sp>
      <p:sp>
        <p:nvSpPr>
          <p:cNvPr id="11" name="TextBox 10"/>
          <p:cNvSpPr txBox="1"/>
          <p:nvPr/>
        </p:nvSpPr>
        <p:spPr>
          <a:xfrm>
            <a:off x="841247"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中共二大探讨蒙古、西藏、新疆等地的民族问题，提出有关民族自决和自治的主张。原书将其置于反帝、反封建及寻求全国统一的历史背景下解释。</a:t>
            </a:r>
          </a:p>
        </p:txBody>
      </p:sp>
      <p:sp>
        <p:nvSpPr>
          <p:cNvPr id="12" name="Rectangle 11"/>
          <p:cNvSpPr/>
          <p:nvPr/>
        </p:nvSpPr>
        <p:spPr>
          <a:xfrm>
            <a:off x="434340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宣传与干部培养</a:t>
            </a:r>
          </a:p>
        </p:txBody>
      </p:sp>
      <p:sp>
        <p:nvSpPr>
          <p:cNvPr id="15" name="TextBox 14"/>
          <p:cNvSpPr txBox="1"/>
          <p:nvPr/>
        </p:nvSpPr>
        <p:spPr>
          <a:xfrm>
            <a:off x="454456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中国共产党在开展革命斗争的同时，加强少数民族地区的理论和政策宣传，并培养少数民族干部，推动民族工作由政治纲领逐步进入组织建设。</a:t>
            </a:r>
          </a:p>
        </p:txBody>
      </p:sp>
      <p:sp>
        <p:nvSpPr>
          <p:cNvPr id="16" name="Rectangle 15"/>
          <p:cNvSpPr/>
          <p:nvPr/>
        </p:nvSpPr>
        <p:spPr>
          <a:xfrm>
            <a:off x="8046719"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政策在实践中发展</a:t>
            </a:r>
          </a:p>
        </p:txBody>
      </p:sp>
      <p:sp>
        <p:nvSpPr>
          <p:cNvPr id="19" name="TextBox 18"/>
          <p:cNvSpPr txBox="1"/>
          <p:nvPr/>
        </p:nvSpPr>
        <p:spPr>
          <a:xfrm>
            <a:off x="824788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早期文献中的自治、自决、联邦等术语具有特定时代背景。此后政策在革命实践中不断调整，不宜将不同时期的表述直接等同。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03  民族政策与实践</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教育与干部培养的组织作用</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22 / 32</a:t>
            </a:r>
          </a:p>
        </p:txBody>
      </p:sp>
      <p:sp>
        <p:nvSpPr>
          <p:cNvPr id="8" name="Rectangle 7"/>
          <p:cNvSpPr/>
          <p:nvPr/>
        </p:nvSpPr>
        <p:spPr>
          <a:xfrm>
            <a:off x="630936" y="1975104"/>
            <a:ext cx="4041648" cy="3493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2-4.jpg"/>
          <p:cNvPicPr>
            <a:picLocks noChangeAspect="1"/>
          </p:cNvPicPr>
          <p:nvPr/>
        </p:nvPicPr>
        <p:blipFill>
          <a:blip r:embed="rId2"/>
          <a:stretch>
            <a:fillRect/>
          </a:stretch>
        </p:blipFill>
        <p:spPr>
          <a:xfrm>
            <a:off x="685800" y="2628820"/>
            <a:ext cx="3931920" cy="2185575"/>
          </a:xfrm>
          <a:prstGeom prst="rect">
            <a:avLst/>
          </a:prstGeom>
        </p:spPr>
      </p:pic>
      <p:sp>
        <p:nvSpPr>
          <p:cNvPr id="10" name="TextBox 9"/>
          <p:cNvSpPr txBox="1"/>
          <p:nvPr/>
        </p:nvSpPr>
        <p:spPr>
          <a:xfrm>
            <a:off x="694944" y="5504688"/>
            <a:ext cx="3657600" cy="27432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原稿所附图像</a:t>
            </a:r>
          </a:p>
        </p:txBody>
      </p:sp>
      <p:sp>
        <p:nvSpPr>
          <p:cNvPr id="11" name="Rectangle 10"/>
          <p:cNvSpPr/>
          <p:nvPr/>
        </p:nvSpPr>
        <p:spPr>
          <a:xfrm>
            <a:off x="4956048" y="1920240"/>
            <a:ext cx="6583680" cy="13014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57216" y="2029968"/>
            <a:ext cx="6163056" cy="384048"/>
          </a:xfrm>
          <a:prstGeom prst="rect">
            <a:avLst/>
          </a:prstGeom>
          <a:noFill/>
        </p:spPr>
        <p:txBody>
          <a:bodyPr wrap="square" lIns="13716" rIns="13716" tIns="13716" bIns="13716">
            <a:spAutoFit/>
          </a:bodyPr>
          <a:lstStyle/>
          <a:p>
            <a:pPr>
              <a:lnSpc>
                <a:spcPct val="122000"/>
              </a:lnSpc>
              <a:spcAft>
                <a:spcPts val="800"/>
              </a:spcAft>
              <a:defRPr sz="2000" b="1">
                <a:solidFill>
                  <a:srgbClr val="8F2438"/>
                </a:solidFill>
                <a:latin typeface="Noto Sans CJK SC"/>
              </a:defRPr>
            </a:pPr>
            <a:r>
              <a:t>蒙藏学校的青年活动</a:t>
            </a:r>
          </a:p>
        </p:txBody>
      </p:sp>
      <p:sp>
        <p:nvSpPr>
          <p:cNvPr id="13" name="TextBox 12"/>
          <p:cNvSpPr txBox="1"/>
          <p:nvPr/>
        </p:nvSpPr>
        <p:spPr>
          <a:xfrm>
            <a:off x="5157216" y="2487168"/>
            <a:ext cx="6144768" cy="679703"/>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李大钊等指导青年活动。1924年，蒙藏学校建立由蒙古族党员组成的党支部。</a:t>
            </a:r>
          </a:p>
        </p:txBody>
      </p:sp>
      <p:sp>
        <p:nvSpPr>
          <p:cNvPr id="14" name="Rectangle 13"/>
          <p:cNvSpPr/>
          <p:nvPr/>
        </p:nvSpPr>
        <p:spPr>
          <a:xfrm>
            <a:off x="4956048" y="3349752"/>
            <a:ext cx="6583680" cy="13014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7216" y="3459480"/>
            <a:ext cx="6163056" cy="384048"/>
          </a:xfrm>
          <a:prstGeom prst="rect">
            <a:avLst/>
          </a:prstGeom>
          <a:noFill/>
        </p:spPr>
        <p:txBody>
          <a:bodyPr wrap="square" lIns="13716" rIns="13716" tIns="13716" bIns="13716">
            <a:spAutoFit/>
          </a:bodyPr>
          <a:lstStyle/>
          <a:p>
            <a:pPr>
              <a:lnSpc>
                <a:spcPct val="122000"/>
              </a:lnSpc>
              <a:spcAft>
                <a:spcPts val="800"/>
              </a:spcAft>
              <a:defRPr sz="2000" b="1">
                <a:solidFill>
                  <a:srgbClr val="8F2438"/>
                </a:solidFill>
                <a:latin typeface="Noto Sans CJK SC"/>
              </a:defRPr>
            </a:pPr>
            <a:r>
              <a:t>革命教育与地方工作</a:t>
            </a:r>
          </a:p>
        </p:txBody>
      </p:sp>
      <p:sp>
        <p:nvSpPr>
          <p:cNvPr id="16" name="TextBox 15"/>
          <p:cNvSpPr txBox="1"/>
          <p:nvPr/>
        </p:nvSpPr>
        <p:spPr>
          <a:xfrm>
            <a:off x="5157216" y="3916680"/>
            <a:ext cx="6144768" cy="679703"/>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农讲所等机构培养少数民族骨干，将革命教育与地方群众工作相联系。</a:t>
            </a:r>
          </a:p>
        </p:txBody>
      </p:sp>
      <p:sp>
        <p:nvSpPr>
          <p:cNvPr id="17" name="Rectangle 16"/>
          <p:cNvSpPr/>
          <p:nvPr/>
        </p:nvSpPr>
        <p:spPr>
          <a:xfrm>
            <a:off x="4956048" y="4779264"/>
            <a:ext cx="6583680" cy="13014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57216" y="4888992"/>
            <a:ext cx="6163056" cy="384048"/>
          </a:xfrm>
          <a:prstGeom prst="rect">
            <a:avLst/>
          </a:prstGeom>
          <a:noFill/>
        </p:spPr>
        <p:txBody>
          <a:bodyPr wrap="square" lIns="13716" rIns="13716" tIns="13716" bIns="13716">
            <a:spAutoFit/>
          </a:bodyPr>
          <a:lstStyle/>
          <a:p>
            <a:pPr>
              <a:lnSpc>
                <a:spcPct val="122000"/>
              </a:lnSpc>
              <a:spcAft>
                <a:spcPts val="800"/>
              </a:spcAft>
              <a:defRPr sz="2000" b="1">
                <a:solidFill>
                  <a:srgbClr val="8F2438"/>
                </a:solidFill>
                <a:latin typeface="Noto Sans CJK SC"/>
              </a:defRPr>
            </a:pPr>
            <a:r>
              <a:t>延安民族学院</a:t>
            </a:r>
          </a:p>
        </p:txBody>
      </p:sp>
      <p:sp>
        <p:nvSpPr>
          <p:cNvPr id="19" name="TextBox 18"/>
          <p:cNvSpPr txBox="1"/>
          <p:nvPr/>
        </p:nvSpPr>
        <p:spPr>
          <a:xfrm>
            <a:off x="5157216" y="5346192"/>
            <a:ext cx="6144768" cy="679703"/>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1940年设干部学校，翌年改为延安民族学院，设蒙、回、藏、彝等班。</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03  民族政策与实践</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长征中的民族工作</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23 / 32</a:t>
            </a:r>
          </a:p>
        </p:txBody>
      </p:sp>
      <p:sp>
        <p:nvSpPr>
          <p:cNvPr id="8" name="Rectangle 7"/>
          <p:cNvSpPr/>
          <p:nvPr/>
        </p:nvSpPr>
        <p:spPr>
          <a:xfrm>
            <a:off x="630936" y="1975104"/>
            <a:ext cx="4041648" cy="3493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3-27.png"/>
          <p:cNvPicPr>
            <a:picLocks noChangeAspect="1"/>
          </p:cNvPicPr>
          <p:nvPr/>
        </p:nvPicPr>
        <p:blipFill>
          <a:blip r:embed="rId2"/>
          <a:stretch>
            <a:fillRect/>
          </a:stretch>
        </p:blipFill>
        <p:spPr>
          <a:xfrm>
            <a:off x="917473" y="2029967"/>
            <a:ext cx="3468572" cy="3383280"/>
          </a:xfrm>
          <a:prstGeom prst="rect">
            <a:avLst/>
          </a:prstGeom>
        </p:spPr>
      </p:pic>
      <p:sp>
        <p:nvSpPr>
          <p:cNvPr id="10" name="TextBox 9"/>
          <p:cNvSpPr txBox="1"/>
          <p:nvPr/>
        </p:nvSpPr>
        <p:spPr>
          <a:xfrm>
            <a:off x="694944" y="5504688"/>
            <a:ext cx="3657600" cy="27432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原稿所附图像</a:t>
            </a:r>
          </a:p>
        </p:txBody>
      </p:sp>
      <p:sp>
        <p:nvSpPr>
          <p:cNvPr id="11" name="Rectangle 10"/>
          <p:cNvSpPr/>
          <p:nvPr/>
        </p:nvSpPr>
        <p:spPr>
          <a:xfrm>
            <a:off x="4956048" y="1920240"/>
            <a:ext cx="6583680" cy="17876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57216" y="2029968"/>
            <a:ext cx="6163056" cy="384048"/>
          </a:xfrm>
          <a:prstGeom prst="rect">
            <a:avLst/>
          </a:prstGeom>
          <a:noFill/>
        </p:spPr>
        <p:txBody>
          <a:bodyPr wrap="square" lIns="13716" rIns="13716" tIns="13716" bIns="13716">
            <a:spAutoFit/>
          </a:bodyPr>
          <a:lstStyle/>
          <a:p>
            <a:pPr>
              <a:lnSpc>
                <a:spcPct val="122000"/>
              </a:lnSpc>
              <a:spcAft>
                <a:spcPts val="800"/>
              </a:spcAft>
              <a:defRPr sz="2000" b="1">
                <a:solidFill>
                  <a:srgbClr val="8F2438"/>
                </a:solidFill>
                <a:latin typeface="Noto Sans CJK SC"/>
              </a:defRPr>
            </a:pPr>
            <a:r>
              <a:t>政策在军民接触中得到检验</a:t>
            </a:r>
          </a:p>
        </p:txBody>
      </p:sp>
      <p:sp>
        <p:nvSpPr>
          <p:cNvPr id="13" name="TextBox 12"/>
          <p:cNvSpPr txBox="1"/>
          <p:nvPr/>
        </p:nvSpPr>
        <p:spPr>
          <a:xfrm>
            <a:off x="5157216" y="2487168"/>
            <a:ext cx="6144768" cy="11658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红军尊重风俗和宗教信仰，维护群众利益，并帮助建立地方组织。</a:t>
            </a:r>
          </a:p>
        </p:txBody>
      </p:sp>
      <p:sp>
        <p:nvSpPr>
          <p:cNvPr id="14" name="Rectangle 13"/>
          <p:cNvSpPr/>
          <p:nvPr/>
        </p:nvSpPr>
        <p:spPr>
          <a:xfrm>
            <a:off x="4956048" y="3835908"/>
            <a:ext cx="6583680" cy="17876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7216" y="3945636"/>
            <a:ext cx="6163056" cy="384048"/>
          </a:xfrm>
          <a:prstGeom prst="rect">
            <a:avLst/>
          </a:prstGeom>
          <a:noFill/>
        </p:spPr>
        <p:txBody>
          <a:bodyPr wrap="square" lIns="13716" rIns="13716" tIns="13716" bIns="13716">
            <a:spAutoFit/>
          </a:bodyPr>
          <a:lstStyle/>
          <a:p>
            <a:pPr>
              <a:lnSpc>
                <a:spcPct val="122000"/>
              </a:lnSpc>
              <a:spcAft>
                <a:spcPts val="800"/>
              </a:spcAft>
              <a:defRPr sz="2000" b="1">
                <a:solidFill>
                  <a:srgbClr val="8F2438"/>
                </a:solidFill>
                <a:latin typeface="Noto Sans CJK SC"/>
              </a:defRPr>
            </a:pPr>
            <a:r>
              <a:t>具体交往影响社会认识</a:t>
            </a:r>
          </a:p>
        </p:txBody>
      </p:sp>
      <p:sp>
        <p:nvSpPr>
          <p:cNvPr id="16" name="TextBox 15"/>
          <p:cNvSpPr txBox="1"/>
          <p:nvPr/>
        </p:nvSpPr>
        <p:spPr>
          <a:xfrm>
            <a:off x="5157216" y="4402836"/>
            <a:ext cx="6144768" cy="11658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贵州布依族地区的向导支援、小叶丹与刘伯承结盟等事例，体现实际行动对军民关系的影响。</a:t>
            </a:r>
          </a:p>
        </p:txBody>
      </p:sp>
      <p:sp>
        <p:nvSpPr>
          <p:cNvPr id="17" name="Rectangle 16"/>
          <p:cNvSpPr/>
          <p:nvPr/>
        </p:nvSpPr>
        <p:spPr>
          <a:xfrm>
            <a:off x="640080" y="5806440"/>
            <a:ext cx="10908792" cy="393192"/>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856731"/>
            <a:ext cx="10561320" cy="301752"/>
          </a:xfrm>
          <a:prstGeom prst="rect">
            <a:avLst/>
          </a:prstGeom>
          <a:noFill/>
        </p:spPr>
        <p:txBody>
          <a:bodyPr wrap="square" lIns="13716" rIns="13716" tIns="13716" bIns="13716">
            <a:spAutoFit/>
          </a:bodyPr>
          <a:lstStyle/>
          <a:p>
            <a:pPr>
              <a:lnSpc>
                <a:spcPct val="122000"/>
              </a:lnSpc>
              <a:spcAft>
                <a:spcPts val="800"/>
              </a:spcAft>
              <a:defRPr sz="1400" b="0">
                <a:solidFill>
                  <a:srgbClr val="8F2438"/>
                </a:solidFill>
                <a:latin typeface="Noto Sans CJK SC"/>
              </a:defRPr>
            </a:pPr>
            <a:r>
              <a:t>地方交往的经验，使民族工作的方针得到检验与补充。</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03  民族政策与实践</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抗战中的共同参与</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24 / 32</a:t>
            </a:r>
          </a:p>
        </p:txBody>
      </p:sp>
      <p:sp>
        <p:nvSpPr>
          <p:cNvPr id="8" name="Rectangle 7"/>
          <p:cNvSpPr/>
          <p:nvPr/>
        </p:nvSpPr>
        <p:spPr>
          <a:xfrm>
            <a:off x="630936" y="1975104"/>
            <a:ext cx="4041648" cy="3493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4-4.jpg"/>
          <p:cNvPicPr>
            <a:picLocks noChangeAspect="1"/>
          </p:cNvPicPr>
          <p:nvPr/>
        </p:nvPicPr>
        <p:blipFill>
          <a:blip r:embed="rId2"/>
          <a:stretch>
            <a:fillRect/>
          </a:stretch>
        </p:blipFill>
        <p:spPr>
          <a:xfrm>
            <a:off x="685800" y="2380823"/>
            <a:ext cx="3931920" cy="2681569"/>
          </a:xfrm>
          <a:prstGeom prst="rect">
            <a:avLst/>
          </a:prstGeom>
        </p:spPr>
      </p:pic>
      <p:sp>
        <p:nvSpPr>
          <p:cNvPr id="10" name="TextBox 9"/>
          <p:cNvSpPr txBox="1"/>
          <p:nvPr/>
        </p:nvSpPr>
        <p:spPr>
          <a:xfrm>
            <a:off x="694944" y="5504688"/>
            <a:ext cx="3657600" cy="27432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原稿所附图像</a:t>
            </a:r>
          </a:p>
        </p:txBody>
      </p:sp>
      <p:sp>
        <p:nvSpPr>
          <p:cNvPr id="11" name="Rectangle 10"/>
          <p:cNvSpPr/>
          <p:nvPr/>
        </p:nvSpPr>
        <p:spPr>
          <a:xfrm>
            <a:off x="4956048" y="1920240"/>
            <a:ext cx="6583680" cy="17876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57216" y="2029968"/>
            <a:ext cx="6163056" cy="384048"/>
          </a:xfrm>
          <a:prstGeom prst="rect">
            <a:avLst/>
          </a:prstGeom>
          <a:noFill/>
        </p:spPr>
        <p:txBody>
          <a:bodyPr wrap="square" lIns="13716" rIns="13716" tIns="13716" bIns="13716">
            <a:spAutoFit/>
          </a:bodyPr>
          <a:lstStyle/>
          <a:p>
            <a:pPr>
              <a:lnSpc>
                <a:spcPct val="122000"/>
              </a:lnSpc>
              <a:spcAft>
                <a:spcPts val="800"/>
              </a:spcAft>
              <a:defRPr sz="2000" b="1">
                <a:solidFill>
                  <a:srgbClr val="8F2438"/>
                </a:solidFill>
                <a:latin typeface="Noto Sans CJK SC"/>
              </a:defRPr>
            </a:pPr>
            <a:r>
              <a:t>政治动员</a:t>
            </a:r>
          </a:p>
        </p:txBody>
      </p:sp>
      <p:sp>
        <p:nvSpPr>
          <p:cNvPr id="13" name="TextBox 12"/>
          <p:cNvSpPr txBox="1"/>
          <p:nvPr/>
        </p:nvSpPr>
        <p:spPr>
          <a:xfrm>
            <a:off x="5157216" y="2487168"/>
            <a:ext cx="6144768" cy="11658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抗日民族统一战线将民族平等主张与共同抗日相联系。各民族通过参战和支援活动积累合作经验。</a:t>
            </a:r>
          </a:p>
        </p:txBody>
      </p:sp>
      <p:sp>
        <p:nvSpPr>
          <p:cNvPr id="14" name="Rectangle 13"/>
          <p:cNvSpPr/>
          <p:nvPr/>
        </p:nvSpPr>
        <p:spPr>
          <a:xfrm>
            <a:off x="4956048" y="3835908"/>
            <a:ext cx="6583680" cy="17876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7216" y="3945636"/>
            <a:ext cx="6163056" cy="384048"/>
          </a:xfrm>
          <a:prstGeom prst="rect">
            <a:avLst/>
          </a:prstGeom>
          <a:noFill/>
        </p:spPr>
        <p:txBody>
          <a:bodyPr wrap="square" lIns="13716" rIns="13716" tIns="13716" bIns="13716">
            <a:spAutoFit/>
          </a:bodyPr>
          <a:lstStyle/>
          <a:p>
            <a:pPr>
              <a:lnSpc>
                <a:spcPct val="122000"/>
              </a:lnSpc>
              <a:spcAft>
                <a:spcPts val="800"/>
              </a:spcAft>
              <a:defRPr sz="2000" b="1">
                <a:solidFill>
                  <a:srgbClr val="8F2438"/>
                </a:solidFill>
                <a:latin typeface="Noto Sans CJK SC"/>
              </a:defRPr>
            </a:pPr>
            <a:r>
              <a:t>地方实践</a:t>
            </a:r>
          </a:p>
        </p:txBody>
      </p:sp>
      <p:sp>
        <p:nvSpPr>
          <p:cNvPr id="16" name="TextBox 15"/>
          <p:cNvSpPr txBox="1"/>
          <p:nvPr/>
        </p:nvSpPr>
        <p:spPr>
          <a:xfrm>
            <a:off x="5157216" y="4402836"/>
            <a:ext cx="6144768" cy="11658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1940年，中共中央西北工作委员会拟定有关回回民族和蒙古民族问题的提纲，将政策研究与具体民族工作相结合。</a:t>
            </a:r>
          </a:p>
        </p:txBody>
      </p:sp>
      <p:sp>
        <p:nvSpPr>
          <p:cNvPr id="17" name="Rectangle 16"/>
          <p:cNvSpPr/>
          <p:nvPr/>
        </p:nvSpPr>
        <p:spPr>
          <a:xfrm>
            <a:off x="640080" y="5806440"/>
            <a:ext cx="10908792" cy="393192"/>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856731"/>
            <a:ext cx="10561320" cy="301752"/>
          </a:xfrm>
          <a:prstGeom prst="rect">
            <a:avLst/>
          </a:prstGeom>
          <a:noFill/>
        </p:spPr>
        <p:txBody>
          <a:bodyPr wrap="square" lIns="13716" rIns="13716" tIns="13716" bIns="13716">
            <a:spAutoFit/>
          </a:bodyPr>
          <a:lstStyle/>
          <a:p>
            <a:pPr>
              <a:lnSpc>
                <a:spcPct val="122000"/>
              </a:lnSpc>
              <a:spcAft>
                <a:spcPts val="800"/>
              </a:spcAft>
              <a:defRPr sz="1400" b="0">
                <a:solidFill>
                  <a:srgbClr val="8F2438"/>
                </a:solidFill>
                <a:latin typeface="Noto Sans CJK SC"/>
              </a:defRPr>
            </a:pPr>
            <a:r>
              <a:t>共同抗战为民族团结提供了实践基础。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03  民族政策与实践</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1947年内蒙古自治政府成立</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25 / 32</a:t>
            </a:r>
          </a:p>
        </p:txBody>
      </p:sp>
      <p:sp>
        <p:nvSpPr>
          <p:cNvPr id="8" name="Rectangle 7"/>
          <p:cNvSpPr/>
          <p:nvPr/>
        </p:nvSpPr>
        <p:spPr>
          <a:xfrm>
            <a:off x="630936" y="1975104"/>
            <a:ext cx="4041648" cy="3493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5-10.jpg"/>
          <p:cNvPicPr>
            <a:picLocks noChangeAspect="1"/>
          </p:cNvPicPr>
          <p:nvPr/>
        </p:nvPicPr>
        <p:blipFill>
          <a:blip r:embed="rId2"/>
          <a:stretch>
            <a:fillRect/>
          </a:stretch>
        </p:blipFill>
        <p:spPr>
          <a:xfrm>
            <a:off x="685800" y="2308574"/>
            <a:ext cx="3931920" cy="2826067"/>
          </a:xfrm>
          <a:prstGeom prst="rect">
            <a:avLst/>
          </a:prstGeom>
        </p:spPr>
      </p:pic>
      <p:sp>
        <p:nvSpPr>
          <p:cNvPr id="10" name="TextBox 9"/>
          <p:cNvSpPr txBox="1"/>
          <p:nvPr/>
        </p:nvSpPr>
        <p:spPr>
          <a:xfrm>
            <a:off x="694944" y="5504688"/>
            <a:ext cx="3657600" cy="27432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原稿所附图像</a:t>
            </a:r>
          </a:p>
        </p:txBody>
      </p:sp>
      <p:sp>
        <p:nvSpPr>
          <p:cNvPr id="11" name="Rectangle 10"/>
          <p:cNvSpPr/>
          <p:nvPr/>
        </p:nvSpPr>
        <p:spPr>
          <a:xfrm>
            <a:off x="4956048" y="1920240"/>
            <a:ext cx="6583680" cy="20162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57216" y="2029968"/>
            <a:ext cx="6163056" cy="384048"/>
          </a:xfrm>
          <a:prstGeom prst="rect">
            <a:avLst/>
          </a:prstGeom>
          <a:noFill/>
        </p:spPr>
        <p:txBody>
          <a:bodyPr wrap="square" lIns="13716" rIns="13716" tIns="13716" bIns="13716">
            <a:spAutoFit/>
          </a:bodyPr>
          <a:lstStyle/>
          <a:p>
            <a:pPr>
              <a:lnSpc>
                <a:spcPct val="122000"/>
              </a:lnSpc>
              <a:spcAft>
                <a:spcPts val="800"/>
              </a:spcAft>
              <a:defRPr sz="2000" b="1">
                <a:solidFill>
                  <a:srgbClr val="8F2438"/>
                </a:solidFill>
                <a:latin typeface="Noto Sans CJK SC"/>
              </a:defRPr>
            </a:pPr>
            <a:r>
              <a:t>1947年5月1日</a:t>
            </a:r>
          </a:p>
        </p:txBody>
      </p:sp>
      <p:sp>
        <p:nvSpPr>
          <p:cNvPr id="13" name="TextBox 12"/>
          <p:cNvSpPr txBox="1"/>
          <p:nvPr/>
        </p:nvSpPr>
        <p:spPr>
          <a:xfrm>
            <a:off x="5157216" y="2487168"/>
            <a:ext cx="6144768" cy="13944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内蒙古自治政府成立，成为民族工作与自治制度实践的重要节点。</a:t>
            </a:r>
          </a:p>
        </p:txBody>
      </p:sp>
      <p:sp>
        <p:nvSpPr>
          <p:cNvPr id="14" name="Rectangle 13"/>
          <p:cNvSpPr/>
          <p:nvPr/>
        </p:nvSpPr>
        <p:spPr>
          <a:xfrm>
            <a:off x="4956048" y="4064508"/>
            <a:ext cx="6583680" cy="20162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7216" y="4174236"/>
            <a:ext cx="6163056" cy="384048"/>
          </a:xfrm>
          <a:prstGeom prst="rect">
            <a:avLst/>
          </a:prstGeom>
          <a:noFill/>
        </p:spPr>
        <p:txBody>
          <a:bodyPr wrap="square" lIns="13716" rIns="13716" tIns="13716" bIns="13716">
            <a:spAutoFit/>
          </a:bodyPr>
          <a:lstStyle/>
          <a:p>
            <a:pPr>
              <a:lnSpc>
                <a:spcPct val="122000"/>
              </a:lnSpc>
              <a:spcAft>
                <a:spcPts val="800"/>
              </a:spcAft>
              <a:defRPr sz="2000" b="1">
                <a:solidFill>
                  <a:srgbClr val="8F2438"/>
                </a:solidFill>
                <a:latin typeface="Noto Sans CJK SC"/>
              </a:defRPr>
            </a:pPr>
            <a:r>
              <a:t>国家统一与地方参与</a:t>
            </a:r>
          </a:p>
        </p:txBody>
      </p:sp>
      <p:sp>
        <p:nvSpPr>
          <p:cNvPr id="16" name="TextBox 15"/>
          <p:cNvSpPr txBox="1"/>
          <p:nvPr/>
        </p:nvSpPr>
        <p:spPr>
          <a:xfrm>
            <a:off x="5157216" y="4631436"/>
            <a:ext cx="6144768" cy="1394460"/>
          </a:xfrm>
          <a:prstGeom prst="rect">
            <a:avLst/>
          </a:prstGeom>
          <a:noFill/>
        </p:spPr>
        <p:txBody>
          <a:bodyPr wrap="square" lIns="13716" rIns="13716" tIns="13716" bIns="13716">
            <a:spAutoFit/>
          </a:bodyPr>
          <a:lstStyle/>
          <a:p>
            <a:pPr>
              <a:lnSpc>
                <a:spcPct val="122000"/>
              </a:lnSpc>
              <a:spcAft>
                <a:spcPts val="800"/>
              </a:spcAft>
              <a:defRPr sz="1800" b="0">
                <a:solidFill>
                  <a:srgbClr val="242A30"/>
                </a:solidFill>
                <a:latin typeface="Noto Sans CJK SC"/>
              </a:defRPr>
            </a:pPr>
            <a:r>
              <a:t>原书将其置于抗战胜利后民族工作和自治运动的发展中。研读时可进一步考察参与群体、组织程序与权力配置。</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03  民族政策与实践</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新中国成立后的制度安排</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26 / 32</a:t>
            </a:r>
          </a:p>
        </p:txBody>
      </p:sp>
      <p:sp>
        <p:nvSpPr>
          <p:cNvPr id="8" name="Rectangle 7"/>
          <p:cNvSpPr/>
          <p:nvPr/>
        </p:nvSpPr>
        <p:spPr>
          <a:xfrm>
            <a:off x="640080" y="1993392"/>
            <a:ext cx="2569464" cy="34015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221992"/>
            <a:ext cx="2194560" cy="731520"/>
          </a:xfrm>
          <a:prstGeom prst="rect">
            <a:avLst/>
          </a:prstGeom>
          <a:noFill/>
        </p:spPr>
        <p:txBody>
          <a:bodyPr wrap="square" lIns="13716" rIns="13716" tIns="13716" bIns="13716">
            <a:spAutoFit/>
          </a:bodyPr>
          <a:lstStyle/>
          <a:p>
            <a:pPr>
              <a:lnSpc>
                <a:spcPct val="122000"/>
              </a:lnSpc>
              <a:spcAft>
                <a:spcPts val="800"/>
              </a:spcAft>
              <a:defRPr sz="3500" b="1">
                <a:solidFill>
                  <a:srgbClr val="8F2438"/>
                </a:solidFill>
                <a:latin typeface="Noto Sans CJK SC"/>
              </a:defRPr>
            </a:pPr>
            <a:r>
              <a:t>1949</a:t>
            </a:r>
          </a:p>
        </p:txBody>
      </p:sp>
      <p:sp>
        <p:nvSpPr>
          <p:cNvPr id="10" name="TextBox 9"/>
          <p:cNvSpPr txBox="1"/>
          <p:nvPr/>
        </p:nvSpPr>
        <p:spPr>
          <a:xfrm>
            <a:off x="822959" y="3310128"/>
            <a:ext cx="2194560" cy="960120"/>
          </a:xfrm>
          <a:prstGeom prst="rect">
            <a:avLst/>
          </a:prstGeom>
          <a:noFill/>
        </p:spPr>
        <p:txBody>
          <a:bodyPr wrap="square" lIns="13716" rIns="13716" tIns="13716" bIns="13716">
            <a:spAutoFit/>
          </a:bodyPr>
          <a:lstStyle/>
          <a:p>
            <a:pPr>
              <a:lnSpc>
                <a:spcPct val="122000"/>
              </a:lnSpc>
              <a:spcAft>
                <a:spcPts val="800"/>
              </a:spcAft>
              <a:defRPr sz="2300" b="1">
                <a:solidFill>
                  <a:srgbClr val="242A30"/>
                </a:solidFill>
                <a:latin typeface="Noto Sans CJK SC"/>
              </a:defRPr>
            </a:pPr>
            <a:r>
              <a:t>《共同纲领》</a:t>
            </a:r>
          </a:p>
        </p:txBody>
      </p:sp>
      <p:sp>
        <p:nvSpPr>
          <p:cNvPr id="11" name="TextBox 10"/>
          <p:cNvSpPr txBox="1"/>
          <p:nvPr/>
        </p:nvSpPr>
        <p:spPr>
          <a:xfrm>
            <a:off x="822959" y="4590288"/>
            <a:ext cx="2194560" cy="594360"/>
          </a:xfrm>
          <a:prstGeom prst="rect">
            <a:avLst/>
          </a:prstGeom>
          <a:noFill/>
        </p:spPr>
        <p:txBody>
          <a:bodyPr wrap="square" lIns="13716" rIns="13716" tIns="13716" bIns="13716">
            <a:spAutoFit/>
          </a:bodyPr>
          <a:lstStyle/>
          <a:p>
            <a:pPr>
              <a:lnSpc>
                <a:spcPct val="122000"/>
              </a:lnSpc>
              <a:spcAft>
                <a:spcPts val="800"/>
              </a:spcAft>
              <a:defRPr sz="1800" b="0">
                <a:solidFill>
                  <a:srgbClr val="687078"/>
                </a:solidFill>
                <a:latin typeface="Noto Sans CJK SC"/>
              </a:defRPr>
            </a:pPr>
            <a:r>
              <a:t>民族平等与团结</a:t>
            </a:r>
          </a:p>
        </p:txBody>
      </p:sp>
      <p:sp>
        <p:nvSpPr>
          <p:cNvPr id="12" name="Rectangle 11"/>
          <p:cNvSpPr/>
          <p:nvPr/>
        </p:nvSpPr>
        <p:spPr>
          <a:xfrm>
            <a:off x="3419856" y="1993392"/>
            <a:ext cx="2569464" cy="34015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2736" y="2221992"/>
            <a:ext cx="2194560" cy="731520"/>
          </a:xfrm>
          <a:prstGeom prst="rect">
            <a:avLst/>
          </a:prstGeom>
          <a:noFill/>
        </p:spPr>
        <p:txBody>
          <a:bodyPr wrap="square" lIns="13716" rIns="13716" tIns="13716" bIns="13716">
            <a:spAutoFit/>
          </a:bodyPr>
          <a:lstStyle/>
          <a:p>
            <a:pPr>
              <a:lnSpc>
                <a:spcPct val="122000"/>
              </a:lnSpc>
              <a:spcAft>
                <a:spcPts val="800"/>
              </a:spcAft>
              <a:defRPr sz="3500" b="1">
                <a:solidFill>
                  <a:srgbClr val="8F2438"/>
                </a:solidFill>
                <a:latin typeface="Noto Sans CJK SC"/>
              </a:defRPr>
            </a:pPr>
            <a:r>
              <a:t>1954</a:t>
            </a:r>
          </a:p>
        </p:txBody>
      </p:sp>
      <p:sp>
        <p:nvSpPr>
          <p:cNvPr id="14" name="TextBox 13"/>
          <p:cNvSpPr txBox="1"/>
          <p:nvPr/>
        </p:nvSpPr>
        <p:spPr>
          <a:xfrm>
            <a:off x="3602736" y="3310128"/>
            <a:ext cx="2194560" cy="960120"/>
          </a:xfrm>
          <a:prstGeom prst="rect">
            <a:avLst/>
          </a:prstGeom>
          <a:noFill/>
        </p:spPr>
        <p:txBody>
          <a:bodyPr wrap="square" lIns="13716" rIns="13716" tIns="13716" bIns="13716">
            <a:spAutoFit/>
          </a:bodyPr>
          <a:lstStyle/>
          <a:p>
            <a:pPr>
              <a:lnSpc>
                <a:spcPct val="122000"/>
              </a:lnSpc>
              <a:spcAft>
                <a:spcPts val="800"/>
              </a:spcAft>
              <a:defRPr sz="2300" b="1">
                <a:solidFill>
                  <a:srgbClr val="242A30"/>
                </a:solidFill>
                <a:latin typeface="Noto Sans CJK SC"/>
              </a:defRPr>
            </a:pPr>
            <a:r>
              <a:t>宪法</a:t>
            </a:r>
          </a:p>
        </p:txBody>
      </p:sp>
      <p:sp>
        <p:nvSpPr>
          <p:cNvPr id="15" name="TextBox 14"/>
          <p:cNvSpPr txBox="1"/>
          <p:nvPr/>
        </p:nvSpPr>
        <p:spPr>
          <a:xfrm>
            <a:off x="3602736" y="4590288"/>
            <a:ext cx="2194560" cy="594360"/>
          </a:xfrm>
          <a:prstGeom prst="rect">
            <a:avLst/>
          </a:prstGeom>
          <a:noFill/>
        </p:spPr>
        <p:txBody>
          <a:bodyPr wrap="square" lIns="13716" rIns="13716" tIns="13716" bIns="13716">
            <a:spAutoFit/>
          </a:bodyPr>
          <a:lstStyle/>
          <a:p>
            <a:pPr>
              <a:lnSpc>
                <a:spcPct val="122000"/>
              </a:lnSpc>
              <a:spcAft>
                <a:spcPts val="800"/>
              </a:spcAft>
              <a:defRPr sz="1800" b="0">
                <a:solidFill>
                  <a:srgbClr val="687078"/>
                </a:solidFill>
                <a:latin typeface="Noto Sans CJK SC"/>
              </a:defRPr>
            </a:pPr>
            <a:r>
              <a:t>确立基本原则</a:t>
            </a:r>
          </a:p>
        </p:txBody>
      </p:sp>
      <p:sp>
        <p:nvSpPr>
          <p:cNvPr id="16" name="Rectangle 15"/>
          <p:cNvSpPr/>
          <p:nvPr/>
        </p:nvSpPr>
        <p:spPr>
          <a:xfrm>
            <a:off x="6199632" y="1993392"/>
            <a:ext cx="2569464" cy="34015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221992"/>
            <a:ext cx="2194560" cy="731520"/>
          </a:xfrm>
          <a:prstGeom prst="rect">
            <a:avLst/>
          </a:prstGeom>
          <a:noFill/>
        </p:spPr>
        <p:txBody>
          <a:bodyPr wrap="square" lIns="13716" rIns="13716" tIns="13716" bIns="13716">
            <a:spAutoFit/>
          </a:bodyPr>
          <a:lstStyle/>
          <a:p>
            <a:pPr>
              <a:lnSpc>
                <a:spcPct val="122000"/>
              </a:lnSpc>
              <a:spcAft>
                <a:spcPts val="800"/>
              </a:spcAft>
              <a:defRPr sz="3500" b="1">
                <a:solidFill>
                  <a:srgbClr val="8F2438"/>
                </a:solidFill>
                <a:latin typeface="Noto Sans CJK SC"/>
              </a:defRPr>
            </a:pPr>
            <a:r>
              <a:t>1982</a:t>
            </a:r>
          </a:p>
        </p:txBody>
      </p:sp>
      <p:sp>
        <p:nvSpPr>
          <p:cNvPr id="18" name="TextBox 17"/>
          <p:cNvSpPr txBox="1"/>
          <p:nvPr/>
        </p:nvSpPr>
        <p:spPr>
          <a:xfrm>
            <a:off x="6382512" y="3310128"/>
            <a:ext cx="2194560" cy="960120"/>
          </a:xfrm>
          <a:prstGeom prst="rect">
            <a:avLst/>
          </a:prstGeom>
          <a:noFill/>
        </p:spPr>
        <p:txBody>
          <a:bodyPr wrap="square" lIns="13716" rIns="13716" tIns="13716" bIns="13716">
            <a:spAutoFit/>
          </a:bodyPr>
          <a:lstStyle/>
          <a:p>
            <a:pPr>
              <a:lnSpc>
                <a:spcPct val="122000"/>
              </a:lnSpc>
              <a:spcAft>
                <a:spcPts val="800"/>
              </a:spcAft>
              <a:defRPr sz="2300" b="1">
                <a:solidFill>
                  <a:srgbClr val="242A30"/>
                </a:solidFill>
                <a:latin typeface="Noto Sans CJK SC"/>
              </a:defRPr>
            </a:pPr>
            <a:r>
              <a:t>宪法</a:t>
            </a:r>
          </a:p>
        </p:txBody>
      </p:sp>
      <p:sp>
        <p:nvSpPr>
          <p:cNvPr id="19" name="TextBox 18"/>
          <p:cNvSpPr txBox="1"/>
          <p:nvPr/>
        </p:nvSpPr>
        <p:spPr>
          <a:xfrm>
            <a:off x="6382512" y="4590288"/>
            <a:ext cx="2194560" cy="594360"/>
          </a:xfrm>
          <a:prstGeom prst="rect">
            <a:avLst/>
          </a:prstGeom>
          <a:noFill/>
        </p:spPr>
        <p:txBody>
          <a:bodyPr wrap="square" lIns="13716" rIns="13716" tIns="13716" bIns="13716">
            <a:spAutoFit/>
          </a:bodyPr>
          <a:lstStyle/>
          <a:p>
            <a:pPr>
              <a:lnSpc>
                <a:spcPct val="122000"/>
              </a:lnSpc>
              <a:spcAft>
                <a:spcPts val="800"/>
              </a:spcAft>
              <a:defRPr sz="1800" b="0">
                <a:solidFill>
                  <a:srgbClr val="687078"/>
                </a:solidFill>
                <a:latin typeface="Noto Sans CJK SC"/>
              </a:defRPr>
            </a:pPr>
            <a:r>
              <a:t>权利与自治保障</a:t>
            </a:r>
          </a:p>
        </p:txBody>
      </p:sp>
      <p:sp>
        <p:nvSpPr>
          <p:cNvPr id="20" name="Rectangle 19"/>
          <p:cNvSpPr/>
          <p:nvPr/>
        </p:nvSpPr>
        <p:spPr>
          <a:xfrm>
            <a:off x="8979408" y="1993392"/>
            <a:ext cx="2569464" cy="34015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62288" y="2221992"/>
            <a:ext cx="2194560" cy="731520"/>
          </a:xfrm>
          <a:prstGeom prst="rect">
            <a:avLst/>
          </a:prstGeom>
          <a:noFill/>
        </p:spPr>
        <p:txBody>
          <a:bodyPr wrap="square" lIns="13716" rIns="13716" tIns="13716" bIns="13716">
            <a:spAutoFit/>
          </a:bodyPr>
          <a:lstStyle/>
          <a:p>
            <a:pPr>
              <a:lnSpc>
                <a:spcPct val="122000"/>
              </a:lnSpc>
              <a:spcAft>
                <a:spcPts val="800"/>
              </a:spcAft>
              <a:defRPr sz="3500" b="1">
                <a:solidFill>
                  <a:srgbClr val="8F2438"/>
                </a:solidFill>
                <a:latin typeface="Noto Sans CJK SC"/>
              </a:defRPr>
            </a:pPr>
            <a:r>
              <a:t>1984</a:t>
            </a:r>
          </a:p>
        </p:txBody>
      </p:sp>
      <p:sp>
        <p:nvSpPr>
          <p:cNvPr id="22" name="TextBox 21"/>
          <p:cNvSpPr txBox="1"/>
          <p:nvPr/>
        </p:nvSpPr>
        <p:spPr>
          <a:xfrm>
            <a:off x="9162288" y="3310128"/>
            <a:ext cx="2194560" cy="960120"/>
          </a:xfrm>
          <a:prstGeom prst="rect">
            <a:avLst/>
          </a:prstGeom>
          <a:noFill/>
        </p:spPr>
        <p:txBody>
          <a:bodyPr wrap="square" lIns="13716" rIns="13716" tIns="13716" bIns="13716">
            <a:spAutoFit/>
          </a:bodyPr>
          <a:lstStyle/>
          <a:p>
            <a:pPr>
              <a:lnSpc>
                <a:spcPct val="122000"/>
              </a:lnSpc>
              <a:spcAft>
                <a:spcPts val="800"/>
              </a:spcAft>
              <a:defRPr sz="2300" b="1">
                <a:solidFill>
                  <a:srgbClr val="242A30"/>
                </a:solidFill>
                <a:latin typeface="Noto Sans CJK SC"/>
              </a:defRPr>
            </a:pPr>
            <a:r>
              <a:t>民族区域自治法</a:t>
            </a:r>
          </a:p>
        </p:txBody>
      </p:sp>
      <p:sp>
        <p:nvSpPr>
          <p:cNvPr id="23" name="TextBox 22"/>
          <p:cNvSpPr txBox="1"/>
          <p:nvPr/>
        </p:nvSpPr>
        <p:spPr>
          <a:xfrm>
            <a:off x="9162288" y="4590288"/>
            <a:ext cx="2194560" cy="594360"/>
          </a:xfrm>
          <a:prstGeom prst="rect">
            <a:avLst/>
          </a:prstGeom>
          <a:noFill/>
        </p:spPr>
        <p:txBody>
          <a:bodyPr wrap="square" lIns="13716" rIns="13716" tIns="13716" bIns="13716">
            <a:spAutoFit/>
          </a:bodyPr>
          <a:lstStyle/>
          <a:p>
            <a:pPr>
              <a:lnSpc>
                <a:spcPct val="122000"/>
              </a:lnSpc>
              <a:spcAft>
                <a:spcPts val="800"/>
              </a:spcAft>
              <a:defRPr sz="1800" b="0">
                <a:solidFill>
                  <a:srgbClr val="687078"/>
                </a:solidFill>
                <a:latin typeface="Noto Sans CJK SC"/>
              </a:defRPr>
            </a:pPr>
            <a:r>
              <a:t>完善法律保障</a:t>
            </a:r>
          </a:p>
        </p:txBody>
      </p:sp>
      <p:sp>
        <p:nvSpPr>
          <p:cNvPr id="24" name="Rectangle 23"/>
          <p:cNvSpPr/>
          <p:nvPr/>
        </p:nvSpPr>
        <p:spPr>
          <a:xfrm>
            <a:off x="640080" y="5806440"/>
            <a:ext cx="10908792" cy="393192"/>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5856731"/>
            <a:ext cx="10561320" cy="301752"/>
          </a:xfrm>
          <a:prstGeom prst="rect">
            <a:avLst/>
          </a:prstGeom>
          <a:noFill/>
        </p:spPr>
        <p:txBody>
          <a:bodyPr wrap="square" lIns="13716" rIns="13716" tIns="13716" bIns="13716">
            <a:spAutoFit/>
          </a:bodyPr>
          <a:lstStyle/>
          <a:p>
            <a:pPr>
              <a:lnSpc>
                <a:spcPct val="122000"/>
              </a:lnSpc>
              <a:spcAft>
                <a:spcPts val="800"/>
              </a:spcAft>
              <a:defRPr sz="1400" b="0">
                <a:solidFill>
                  <a:srgbClr val="8F2438"/>
                </a:solidFill>
                <a:latin typeface="Noto Sans CJK SC"/>
              </a:defRPr>
            </a:pPr>
            <a:r>
              <a:t>从政治原则到制度规定：民族平等通过纲领、宪法与法律逐步获得制度保障。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03  民族政策与实践</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民族区域自治的制度逻辑</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27 / 32</a:t>
            </a:r>
          </a:p>
        </p:txBody>
      </p:sp>
      <p:sp>
        <p:nvSpPr>
          <p:cNvPr id="8" name="Rectangle 7"/>
          <p:cNvSpPr/>
          <p:nvPr/>
        </p:nvSpPr>
        <p:spPr>
          <a:xfrm>
            <a:off x="640080" y="1947672"/>
            <a:ext cx="5353812" cy="36210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362102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4951475"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统一国家中的地方政权</a:t>
            </a:r>
          </a:p>
        </p:txBody>
      </p:sp>
      <p:sp>
        <p:nvSpPr>
          <p:cNvPr id="11" name="TextBox 10"/>
          <p:cNvSpPr txBox="1"/>
          <p:nvPr/>
        </p:nvSpPr>
        <p:spPr>
          <a:xfrm>
            <a:off x="841247" y="2843784"/>
            <a:ext cx="4951475" cy="2615184"/>
          </a:xfrm>
          <a:prstGeom prst="rect">
            <a:avLst/>
          </a:prstGeom>
          <a:noFill/>
        </p:spPr>
        <p:txBody>
          <a:bodyPr wrap="square" lIns="13716" rIns="13716" tIns="13716" bIns="13716">
            <a:spAutoFit/>
          </a:bodyPr>
          <a:lstStyle/>
          <a:p>
            <a:pPr>
              <a:lnSpc>
                <a:spcPct val="122000"/>
              </a:lnSpc>
              <a:spcAft>
                <a:spcPts val="800"/>
              </a:spcAft>
              <a:defRPr sz="2100" b="0">
                <a:solidFill>
                  <a:srgbClr val="242A30"/>
                </a:solidFill>
                <a:latin typeface="Noto Sans CJK SC"/>
              </a:defRPr>
            </a:pPr>
            <a:r>
              <a:t>宪法和相关法律明确，民族自治地方是国家的组成部分，自治机关是国家统一领导下的地方政权，依法承担地方国家机关的职能。</a:t>
            </a:r>
          </a:p>
        </p:txBody>
      </p:sp>
      <p:sp>
        <p:nvSpPr>
          <p:cNvPr id="12" name="Rectangle 11"/>
          <p:cNvSpPr/>
          <p:nvPr/>
        </p:nvSpPr>
        <p:spPr>
          <a:xfrm>
            <a:off x="6195059" y="1947672"/>
            <a:ext cx="5353812" cy="36210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5059" y="1947672"/>
            <a:ext cx="41148" cy="362102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7" y="2112264"/>
            <a:ext cx="4951475"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自治权与地方实际</a:t>
            </a:r>
          </a:p>
        </p:txBody>
      </p:sp>
      <p:sp>
        <p:nvSpPr>
          <p:cNvPr id="15" name="TextBox 14"/>
          <p:cNvSpPr txBox="1"/>
          <p:nvPr/>
        </p:nvSpPr>
        <p:spPr>
          <a:xfrm>
            <a:off x="6396227" y="2843784"/>
            <a:ext cx="4951475" cy="2615184"/>
          </a:xfrm>
          <a:prstGeom prst="rect">
            <a:avLst/>
          </a:prstGeom>
          <a:noFill/>
        </p:spPr>
        <p:txBody>
          <a:bodyPr wrap="square" lIns="13716" rIns="13716" tIns="13716" bIns="13716">
            <a:spAutoFit/>
          </a:bodyPr>
          <a:lstStyle/>
          <a:p>
            <a:pPr>
              <a:lnSpc>
                <a:spcPct val="122000"/>
              </a:lnSpc>
              <a:spcAft>
                <a:spcPts val="800"/>
              </a:spcAft>
              <a:defRPr sz="2100" b="0">
                <a:solidFill>
                  <a:srgbClr val="242A30"/>
                </a:solidFill>
                <a:latin typeface="Noto Sans CJK SC"/>
              </a:defRPr>
            </a:pPr>
            <a:r>
              <a:t>自治机关依法行使自治权，并结合本地情况贯彻国家法律和政策。原书还介绍自治机关领导人员的民族构成要求，强调当地民族参与地方事务管理。</a:t>
            </a:r>
          </a:p>
        </p:txBody>
      </p:sp>
      <p:sp>
        <p:nvSpPr>
          <p:cNvPr id="16" name="Rectangle 15"/>
          <p:cNvSpPr/>
          <p:nvPr/>
        </p:nvSpPr>
        <p:spPr>
          <a:xfrm>
            <a:off x="640080" y="5806440"/>
            <a:ext cx="10908792" cy="393192"/>
          </a:xfrm>
          <a:prstGeom prst="rect">
            <a:avLst/>
          </a:prstGeom>
          <a:solidFill>
            <a:srgbClr val="F0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5856731"/>
            <a:ext cx="10561320" cy="301752"/>
          </a:xfrm>
          <a:prstGeom prst="rect">
            <a:avLst/>
          </a:prstGeom>
          <a:noFill/>
        </p:spPr>
        <p:txBody>
          <a:bodyPr wrap="square" lIns="13716" rIns="13716" tIns="13716" bIns="13716">
            <a:spAutoFit/>
          </a:bodyPr>
          <a:lstStyle/>
          <a:p>
            <a:pPr>
              <a:lnSpc>
                <a:spcPct val="122000"/>
              </a:lnSpc>
              <a:spcAft>
                <a:spcPts val="800"/>
              </a:spcAft>
              <a:defRPr sz="1400" b="0">
                <a:solidFill>
                  <a:srgbClr val="8F2438"/>
                </a:solidFill>
                <a:latin typeface="Noto Sans CJK SC"/>
              </a:defRPr>
            </a:pPr>
            <a:r>
              <a:t>制度分析需要同时关注国家整体安排与地方具体条件。</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中国民族关系史 · 专题研读</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28 / 32</a:t>
            </a:r>
          </a:p>
        </p:txBody>
      </p:sp>
      <p:sp>
        <p:nvSpPr>
          <p:cNvPr id="8" name="Rectangle 7"/>
          <p:cNvSpPr/>
          <p:nvPr/>
        </p:nvSpPr>
        <p:spPr>
          <a:xfrm>
            <a:off x="640080" y="1572768"/>
            <a:ext cx="91440" cy="4151376"/>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91640"/>
            <a:ext cx="3657600" cy="1371600"/>
          </a:xfrm>
          <a:prstGeom prst="rect">
            <a:avLst/>
          </a:prstGeom>
          <a:noFill/>
        </p:spPr>
        <p:txBody>
          <a:bodyPr wrap="square" lIns="13716" rIns="13716" tIns="13716" bIns="13716">
            <a:spAutoFit/>
          </a:bodyPr>
          <a:lstStyle/>
          <a:p>
            <a:pPr>
              <a:lnSpc>
                <a:spcPct val="122000"/>
              </a:lnSpc>
              <a:spcAft>
                <a:spcPts val="800"/>
              </a:spcAft>
              <a:defRPr sz="6400" b="1">
                <a:solidFill>
                  <a:srgbClr val="8F2438"/>
                </a:solidFill>
                <a:latin typeface="Noto Sans CJK SC"/>
              </a:defRPr>
            </a:pPr>
            <a:r>
              <a:t>04</a:t>
            </a:r>
          </a:p>
        </p:txBody>
      </p:sp>
      <p:sp>
        <p:nvSpPr>
          <p:cNvPr id="10" name="TextBox 9"/>
          <p:cNvSpPr txBox="1"/>
          <p:nvPr/>
        </p:nvSpPr>
        <p:spPr>
          <a:xfrm>
            <a:off x="987552" y="3017520"/>
            <a:ext cx="7223760" cy="914400"/>
          </a:xfrm>
          <a:prstGeom prst="rect">
            <a:avLst/>
          </a:prstGeom>
          <a:noFill/>
        </p:spPr>
        <p:txBody>
          <a:bodyPr wrap="square" lIns="13716" rIns="13716" tIns="13716" bIns="13716">
            <a:spAutoFit/>
          </a:bodyPr>
          <a:lstStyle/>
          <a:p>
            <a:pPr>
              <a:lnSpc>
                <a:spcPct val="122000"/>
              </a:lnSpc>
              <a:spcAft>
                <a:spcPts val="800"/>
              </a:spcAft>
              <a:defRPr sz="3800" b="1">
                <a:solidFill>
                  <a:srgbClr val="242A30"/>
                </a:solidFill>
                <a:latin typeface="Noto Sans CJK SC"/>
              </a:defRPr>
            </a:pPr>
            <a:r>
              <a:t>学习总结</a:t>
            </a:r>
          </a:p>
        </p:txBody>
      </p:sp>
      <p:sp>
        <p:nvSpPr>
          <p:cNvPr id="11" name="TextBox 10"/>
          <p:cNvSpPr txBox="1"/>
          <p:nvPr/>
        </p:nvSpPr>
        <p:spPr>
          <a:xfrm>
            <a:off x="1005840" y="4206240"/>
            <a:ext cx="6492240" cy="1097280"/>
          </a:xfrm>
          <a:prstGeom prst="rect">
            <a:avLst/>
          </a:prstGeom>
          <a:noFill/>
        </p:spPr>
        <p:txBody>
          <a:bodyPr wrap="square" lIns="13716" rIns="13716" tIns="13716" bIns="13716">
            <a:spAutoFit/>
          </a:bodyPr>
          <a:lstStyle/>
          <a:p>
            <a:pPr>
              <a:lnSpc>
                <a:spcPct val="122000"/>
              </a:lnSpc>
              <a:spcAft>
                <a:spcPts val="800"/>
              </a:spcAft>
              <a:defRPr sz="2300" b="0">
                <a:solidFill>
                  <a:srgbClr val="687078"/>
                </a:solidFill>
                <a:latin typeface="Noto Sans CJK SC"/>
              </a:defRPr>
            </a:pPr>
            <a:r>
              <a:t>从历史知识走向解释方法与研读自觉。</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04  学习总结</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理解的深化：民族关系与具体社会生活</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29 / 32</a:t>
            </a:r>
          </a:p>
        </p:txBody>
      </p:sp>
      <p:sp>
        <p:nvSpPr>
          <p:cNvPr id="8" name="Rectangle 7"/>
          <p:cNvSpPr/>
          <p:nvPr/>
        </p:nvSpPr>
        <p:spPr>
          <a:xfrm>
            <a:off x="64008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从长征经验中理解</a:t>
            </a:r>
          </a:p>
        </p:txBody>
      </p:sp>
      <p:sp>
        <p:nvSpPr>
          <p:cNvPr id="11" name="TextBox 10"/>
          <p:cNvSpPr txBox="1"/>
          <p:nvPr/>
        </p:nvSpPr>
        <p:spPr>
          <a:xfrm>
            <a:off x="841247"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尊重风俗、维护群众利益与地方向导支援，使我看到平等交往如何体现在具体行动中。</a:t>
            </a:r>
          </a:p>
        </p:txBody>
      </p:sp>
      <p:sp>
        <p:nvSpPr>
          <p:cNvPr id="12" name="Rectangle 11"/>
          <p:cNvSpPr/>
          <p:nvPr/>
        </p:nvSpPr>
        <p:spPr>
          <a:xfrm>
            <a:off x="434340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从地方治理中理解</a:t>
            </a:r>
          </a:p>
        </p:txBody>
      </p:sp>
      <p:sp>
        <p:nvSpPr>
          <p:cNvPr id="15" name="TextBox 14"/>
          <p:cNvSpPr txBox="1"/>
          <p:nvPr/>
        </p:nvSpPr>
        <p:spPr>
          <a:xfrm>
            <a:off x="454456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新疆案例提示我，土地处置与军政行为，会影响不同群体对政策的切身感受。</a:t>
            </a:r>
          </a:p>
        </p:txBody>
      </p:sp>
      <p:sp>
        <p:nvSpPr>
          <p:cNvPr id="16" name="Rectangle 15"/>
          <p:cNvSpPr/>
          <p:nvPr/>
        </p:nvSpPr>
        <p:spPr>
          <a:xfrm>
            <a:off x="8046719"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从制度建设中理解</a:t>
            </a:r>
          </a:p>
        </p:txBody>
      </p:sp>
      <p:sp>
        <p:nvSpPr>
          <p:cNvPr id="19" name="TextBox 18"/>
          <p:cNvSpPr txBox="1"/>
          <p:nvPr/>
        </p:nvSpPr>
        <p:spPr>
          <a:xfrm>
            <a:off x="824788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自治实践与制度建设，使我进一步关注民族平等如何落实为参与机制和权利安排。</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04  学习总结</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知识、方法与观察视角</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30 / 32</a:t>
            </a:r>
          </a:p>
        </p:txBody>
      </p:sp>
      <p:sp>
        <p:nvSpPr>
          <p:cNvPr id="8" name="Rectangle 7"/>
          <p:cNvSpPr/>
          <p:nvPr/>
        </p:nvSpPr>
        <p:spPr>
          <a:xfrm>
            <a:off x="64008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知识上的收获</a:t>
            </a:r>
          </a:p>
        </p:txBody>
      </p:sp>
      <p:sp>
        <p:nvSpPr>
          <p:cNvPr id="11" name="TextBox 10"/>
          <p:cNvSpPr txBox="1"/>
          <p:nvPr/>
        </p:nvSpPr>
        <p:spPr>
          <a:xfrm>
            <a:off x="841247"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梳理不同地区的边疆形势、边政机构与民族政策，建立相互联系的历史认识。</a:t>
            </a:r>
          </a:p>
        </p:txBody>
      </p:sp>
      <p:sp>
        <p:nvSpPr>
          <p:cNvPr id="12" name="Rectangle 11"/>
          <p:cNvSpPr/>
          <p:nvPr/>
        </p:nvSpPr>
        <p:spPr>
          <a:xfrm>
            <a:off x="434340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方法上的收获</a:t>
            </a:r>
          </a:p>
        </p:txBody>
      </p:sp>
      <p:sp>
        <p:nvSpPr>
          <p:cNvPr id="15" name="TextBox 14"/>
          <p:cNvSpPr txBox="1"/>
          <p:nvPr/>
        </p:nvSpPr>
        <p:spPr>
          <a:xfrm>
            <a:off x="454456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将事件放回时代背景，联系政策与实施过程，并区分书中叙述与个人理解。</a:t>
            </a:r>
          </a:p>
        </p:txBody>
      </p:sp>
      <p:sp>
        <p:nvSpPr>
          <p:cNvPr id="16" name="Rectangle 15"/>
          <p:cNvSpPr/>
          <p:nvPr/>
        </p:nvSpPr>
        <p:spPr>
          <a:xfrm>
            <a:off x="8046719"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视角上的收获</a:t>
            </a:r>
          </a:p>
        </p:txBody>
      </p:sp>
      <p:sp>
        <p:nvSpPr>
          <p:cNvPr id="19" name="TextBox 18"/>
          <p:cNvSpPr txBox="1"/>
          <p:nvPr/>
        </p:nvSpPr>
        <p:spPr>
          <a:xfrm>
            <a:off x="824788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同时关注国家制度、地方社会与各族民众，理解同一历史过程中的不同经历。</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04  学习总结</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r>
              <a:t>学习体会：主线、理解与方向</a:t>
            </a: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31 / 32</a:t>
            </a:r>
          </a:p>
        </p:txBody>
      </p:sp>
      <p:sp>
        <p:nvSpPr>
          <p:cNvPr id="8" name="Rectangle 7"/>
          <p:cNvSpPr/>
          <p:nvPr/>
        </p:nvSpPr>
        <p:spPr>
          <a:xfrm>
            <a:off x="64008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带走一条主线</a:t>
            </a:r>
          </a:p>
        </p:txBody>
      </p:sp>
      <p:sp>
        <p:nvSpPr>
          <p:cNvPr id="11" name="TextBox 10"/>
          <p:cNvSpPr txBox="1"/>
          <p:nvPr/>
        </p:nvSpPr>
        <p:spPr>
          <a:xfrm>
            <a:off x="841247"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联系边疆形势、知识积累与政策实践，形成整体认识。</a:t>
            </a:r>
          </a:p>
        </p:txBody>
      </p:sp>
      <p:sp>
        <p:nvSpPr>
          <p:cNvPr id="12" name="Rectangle 11"/>
          <p:cNvSpPr/>
          <p:nvPr/>
        </p:nvSpPr>
        <p:spPr>
          <a:xfrm>
            <a:off x="4343400"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加深一种理解</a:t>
            </a:r>
          </a:p>
        </p:txBody>
      </p:sp>
      <p:sp>
        <p:nvSpPr>
          <p:cNvPr id="15" name="TextBox 14"/>
          <p:cNvSpPr txBox="1"/>
          <p:nvPr/>
        </p:nvSpPr>
        <p:spPr>
          <a:xfrm>
            <a:off x="454456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民族平等与团结，需要结合制度安排、具体交往与地方生活加以认识。</a:t>
            </a:r>
          </a:p>
        </p:txBody>
      </p:sp>
      <p:sp>
        <p:nvSpPr>
          <p:cNvPr id="16" name="Rectangle 15"/>
          <p:cNvSpPr/>
          <p:nvPr/>
        </p:nvSpPr>
        <p:spPr>
          <a:xfrm>
            <a:off x="8046719" y="1947672"/>
            <a:ext cx="3502152" cy="405079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947672"/>
            <a:ext cx="41148" cy="4050791"/>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112264"/>
            <a:ext cx="3099816" cy="640080"/>
          </a:xfrm>
          <a:prstGeom prst="rect">
            <a:avLst/>
          </a:prstGeom>
          <a:noFill/>
        </p:spPr>
        <p:txBody>
          <a:bodyPr wrap="square" lIns="13716" rIns="13716" tIns="13716" bIns="13716">
            <a:spAutoFit/>
          </a:bodyPr>
          <a:lstStyle/>
          <a:p>
            <a:pPr>
              <a:lnSpc>
                <a:spcPct val="122000"/>
              </a:lnSpc>
              <a:spcAft>
                <a:spcPts val="800"/>
              </a:spcAft>
              <a:defRPr sz="2100" b="1">
                <a:solidFill>
                  <a:srgbClr val="8F2438"/>
                </a:solidFill>
                <a:latin typeface="Noto Sans CJK SC"/>
              </a:defRPr>
            </a:pPr>
            <a:r>
              <a:t>形成一个方向</a:t>
            </a:r>
          </a:p>
        </p:txBody>
      </p:sp>
      <p:sp>
        <p:nvSpPr>
          <p:cNvPr id="19" name="TextBox 18"/>
          <p:cNvSpPr txBox="1"/>
          <p:nvPr/>
        </p:nvSpPr>
        <p:spPr>
          <a:xfrm>
            <a:off x="8247888" y="2843784"/>
            <a:ext cx="3099816" cy="3044951"/>
          </a:xfrm>
          <a:prstGeom prst="rect">
            <a:avLst/>
          </a:prstGeom>
          <a:noFill/>
        </p:spPr>
        <p:txBody>
          <a:bodyPr wrap="square" lIns="13716" rIns="13716" tIns="13716" bIns="13716">
            <a:spAutoFit/>
          </a:bodyPr>
          <a:lstStyle/>
          <a:p>
            <a:pPr>
              <a:lnSpc>
                <a:spcPct val="122000"/>
              </a:lnSpc>
              <a:spcAft>
                <a:spcPts val="800"/>
              </a:spcAft>
              <a:defRPr sz="1900" b="0">
                <a:solidFill>
                  <a:srgbClr val="242A30"/>
                </a:solidFill>
                <a:latin typeface="Noto Sans CJK SC"/>
              </a:defRPr>
            </a:pPr>
            <a:r>
              <a:t>重视历史语境、地方主体，以及多种材料之间的相互印证。</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502920" y="393192"/>
            <a:ext cx="320040" cy="54864"/>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
            <a:ext cx="7315200" cy="320040"/>
          </a:xfrm>
          <a:prstGeom prst="rect">
            <a:avLst/>
          </a:prstGeom>
          <a:noFill/>
        </p:spPr>
        <p:txBody>
          <a:bodyPr wrap="square" lIns="13716" rIns="13716" tIns="13716" bIns="13716">
            <a:spAutoFit/>
          </a:bodyPr>
          <a:lstStyle/>
          <a:p>
            <a:pPr>
              <a:lnSpc>
                <a:spcPct val="122000"/>
              </a:lnSpc>
              <a:spcAft>
                <a:spcPts val="800"/>
              </a:spcAft>
              <a:defRPr sz="1100" b="1">
                <a:solidFill>
                  <a:srgbClr val="8F2438"/>
                </a:solidFill>
                <a:latin typeface="Noto Sans CJK SC"/>
              </a:defRPr>
            </a:pPr>
            <a:r>
              <a:t>中国民族关系史 · 专题研读</a:t>
            </a:r>
          </a:p>
        </p:txBody>
      </p:sp>
      <p:sp>
        <p:nvSpPr>
          <p:cNvPr id="4" name="TextBox 3"/>
          <p:cNvSpPr txBox="1"/>
          <p:nvPr/>
        </p:nvSpPr>
        <p:spPr>
          <a:xfrm>
            <a:off x="621792" y="859536"/>
            <a:ext cx="10972800" cy="896112"/>
          </a:xfrm>
          <a:prstGeom prst="rect">
            <a:avLst/>
          </a:prstGeom>
          <a:noFill/>
        </p:spPr>
        <p:txBody>
          <a:bodyPr wrap="square" lIns="13716" rIns="13716" tIns="13716" bIns="13716">
            <a:spAutoFit/>
          </a:bodyPr>
          <a:lstStyle/>
          <a:p>
            <a:pPr>
              <a:lnSpc>
                <a:spcPct val="122000"/>
              </a:lnSpc>
              <a:spcAft>
                <a:spcPts val="800"/>
              </a:spcAft>
              <a:defRPr sz="3000" b="1">
                <a:solidFill>
                  <a:srgbClr val="8F2438"/>
                </a:solidFill>
                <a:latin typeface="Noto Sans CJK SC"/>
              </a:defRPr>
            </a:pPr>
          </a:p>
        </p:txBody>
      </p:sp>
      <p:sp>
        <p:nvSpPr>
          <p:cNvPr id="5" name="Rectangle 4"/>
          <p:cNvSpPr/>
          <p:nvPr/>
        </p:nvSpPr>
        <p:spPr>
          <a:xfrm>
            <a:off x="640080" y="6336792"/>
            <a:ext cx="10908792" cy="10972"/>
          </a:xfrm>
          <a:prstGeom prst="rect">
            <a:avLst/>
          </a:prstGeom>
          <a:solidFill>
            <a:srgbClr val="DED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37376"/>
            <a:ext cx="9144000" cy="228600"/>
          </a:xfrm>
          <a:prstGeom prst="rect">
            <a:avLst/>
          </a:prstGeom>
          <a:noFill/>
        </p:spPr>
        <p:txBody>
          <a:bodyPr wrap="square" lIns="13716" rIns="13716" tIns="13716" bIns="13716">
            <a:spAutoFit/>
          </a:bodyPr>
          <a:lstStyle/>
          <a:p>
            <a:pPr>
              <a:lnSpc>
                <a:spcPct val="122000"/>
              </a:lnSpc>
              <a:spcAft>
                <a:spcPts val="800"/>
              </a:spcAft>
              <a:defRPr sz="1000" b="0">
                <a:solidFill>
                  <a:srgbClr val="687078"/>
                </a:solidFill>
                <a:latin typeface="Noto Sans CJK SC"/>
              </a:defRPr>
            </a:pPr>
            <a:r>
              <a:t>中国民族关系史  ·  西南民族大学学术汇报</a:t>
            </a:r>
          </a:p>
        </p:txBody>
      </p:sp>
      <p:sp>
        <p:nvSpPr>
          <p:cNvPr id="7" name="TextBox 6"/>
          <p:cNvSpPr txBox="1"/>
          <p:nvPr/>
        </p:nvSpPr>
        <p:spPr>
          <a:xfrm>
            <a:off x="10698480" y="6419088"/>
            <a:ext cx="868680" cy="274320"/>
          </a:xfrm>
          <a:prstGeom prst="rect">
            <a:avLst/>
          </a:prstGeom>
          <a:noFill/>
        </p:spPr>
        <p:txBody>
          <a:bodyPr wrap="square" lIns="13716" rIns="13716" tIns="13716" bIns="13716">
            <a:spAutoFit/>
          </a:bodyPr>
          <a:lstStyle/>
          <a:p>
            <a:pPr>
              <a:lnSpc>
                <a:spcPct val="122000"/>
              </a:lnSpc>
              <a:spcAft>
                <a:spcPts val="800"/>
              </a:spcAft>
              <a:defRPr sz="1100" b="0">
                <a:solidFill>
                  <a:srgbClr val="687078"/>
                </a:solidFill>
                <a:latin typeface="Noto Sans CJK SC"/>
              </a:defRPr>
            </a:pPr>
            <a:r>
              <a:t>32 / 32</a:t>
            </a:r>
          </a:p>
        </p:txBody>
      </p:sp>
      <p:sp>
        <p:nvSpPr>
          <p:cNvPr id="8" name="Rectangle 7"/>
          <p:cNvSpPr/>
          <p:nvPr/>
        </p:nvSpPr>
        <p:spPr>
          <a:xfrm>
            <a:off x="640080" y="1508760"/>
            <a:ext cx="91440" cy="4160520"/>
          </a:xfrm>
          <a:prstGeom prst="rect">
            <a:avLst/>
          </a:prstGeom>
          <a:solidFill>
            <a:srgbClr val="8F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40280"/>
            <a:ext cx="10058400" cy="1143000"/>
          </a:xfrm>
          <a:prstGeom prst="rect">
            <a:avLst/>
          </a:prstGeom>
          <a:noFill/>
        </p:spPr>
        <p:txBody>
          <a:bodyPr wrap="square" lIns="13716" rIns="13716" tIns="13716" bIns="13716">
            <a:spAutoFit/>
          </a:bodyPr>
          <a:lstStyle/>
          <a:p>
            <a:pPr>
              <a:lnSpc>
                <a:spcPct val="122000"/>
              </a:lnSpc>
              <a:spcAft>
                <a:spcPts val="800"/>
              </a:spcAft>
              <a:defRPr sz="5200" b="1">
                <a:solidFill>
                  <a:srgbClr val="8F2438"/>
                </a:solidFill>
                <a:latin typeface="Noto Sans CJK SC"/>
              </a:defRPr>
            </a:pPr>
            <a:r>
              <a:t>感谢倾听</a:t>
            </a:r>
          </a:p>
        </p:txBody>
      </p:sp>
      <p:sp>
        <p:nvSpPr>
          <p:cNvPr id="10" name="TextBox 9"/>
          <p:cNvSpPr txBox="1"/>
          <p:nvPr/>
        </p:nvSpPr>
        <p:spPr>
          <a:xfrm>
            <a:off x="1051560" y="3767328"/>
            <a:ext cx="10058400" cy="731520"/>
          </a:xfrm>
          <a:prstGeom prst="rect">
            <a:avLst/>
          </a:prstGeom>
          <a:noFill/>
        </p:spPr>
        <p:txBody>
          <a:bodyPr wrap="square" lIns="13716" rIns="13716" tIns="13716" bIns="13716">
            <a:spAutoFit/>
          </a:bodyPr>
          <a:lstStyle/>
          <a:p>
            <a:pPr>
              <a:lnSpc>
                <a:spcPct val="122000"/>
              </a:lnSpc>
              <a:spcAft>
                <a:spcPts val="800"/>
              </a:spcAft>
              <a:defRPr sz="2600" b="0">
                <a:solidFill>
                  <a:srgbClr val="687078"/>
                </a:solidFill>
                <a:latin typeface="Noto Sans CJK SC"/>
              </a:defRPr>
            </a:pPr>
            <a:r>
              <a:t>敬请老师、同学批评指正</a:t>
            </a:r>
          </a:p>
        </p:txBody>
      </p:sp>
      <p:sp>
        <p:nvSpPr>
          <p:cNvPr id="11" name="TextBox 10"/>
          <p:cNvSpPr txBox="1"/>
          <p:nvPr/>
        </p:nvSpPr>
        <p:spPr>
          <a:xfrm>
            <a:off x="1051560" y="4983480"/>
            <a:ext cx="9144000" cy="502920"/>
          </a:xfrm>
          <a:prstGeom prst="rect">
            <a:avLst/>
          </a:prstGeom>
          <a:noFill/>
        </p:spPr>
        <p:txBody>
          <a:bodyPr wrap="square" lIns="13716" rIns="13716" tIns="13716" bIns="13716">
            <a:spAutoFit/>
          </a:bodyPr>
          <a:lstStyle/>
          <a:p>
            <a:pPr>
              <a:lnSpc>
                <a:spcPct val="122000"/>
              </a:lnSpc>
              <a:spcAft>
                <a:spcPts val="800"/>
              </a:spcAft>
              <a:defRPr sz="2000" b="0">
                <a:solidFill>
                  <a:srgbClr val="242A30"/>
                </a:solidFill>
                <a:latin typeface="Noto Sans CJK SC"/>
              </a:defRPr>
            </a:pPr>
            <a:r>
              <a:t>汇报人  连羚毓</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